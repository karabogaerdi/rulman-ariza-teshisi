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3cd2ca2c-4c91-4835-e0e6-17d2166a803f}">
          <p14:sldIdLst>
            <p14:sldId id="256"/>
            <p14:sldId id="257"/>
            <p14:sldId id="258"/>
            <p14:sldId id="259"/>
            <p14:sldId id="260"/>
          </p14:sldIdLst>
        </p14:section>
        <p14:section name="Makale" id="{229b01eb-ad1e-675e-e321-bfcaf3345341}">
          <p14:sldIdLst>
            <p14:sldId id="261"/>
            <p14:sldId id="262"/>
            <p14:sldId id="263"/>
          </p14:sldIdLst>
        </p14:section>
        <p14:section name="Kendi deneyim" id="{27e6e9af-4a09-681e-1bd5-a4000bc3251e}">
          <p14:sldIdLst>
            <p14:sldId id="264"/>
            <p14:sldId id="265"/>
            <p14:sldId id="266"/>
            <p14:sldId id="267"/>
            <p14:sldId id="268"/>
            <p14:sldId id="269"/>
            <p14:sldId id="270"/>
          </p14:sldIdLst>
        </p14:section>
        <p14:section name="Sonuç" id="{dc244516-279a-8a1c-1f73-aa02de5359d3}">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280"/>
                </a:solidFill>
                <a:latin typeface="+mn-lt"/>
              </a:defRPr>
            </a:pPr>
            <a:r>
              <a:rPr sz="1200" b="0" i="0" u="none" strike="noStrike">
                <a:solidFill>
                  <a:srgbClr val="6B7280"/>
                </a:solidFill>
                <a:latin typeface="+mn-lt"/>
              </a:rPr>
              <a:t>Doğruluk (%) · 4 sınıfta şans seviyesi %25</a:t>
            </a:r>
          </a:p>
        </c:rich>
      </c:tx>
      <c:layout/>
      <c:overlay val="0"/>
    </c:title>
    <c:autoTitleDeleted val="0"/>
    <c:plotArea>
      <c:layout/>
      <c:barChart>
        <c:barDir val="col"/>
        <c:grouping val="clustered"/>
        <c:varyColors val="0"/>
        <c:ser>
          <c:idx val="0"/>
          <c:order val="0"/>
          <c:tx>
            <c:strRef>
              <c:f>Sheet1!$B$1</c:f>
              <c:strCache>
                <c:ptCount val="1"/>
                <c:pt idx="0">
                  <c:v>Makalenin protokolü (rastgele CV, 10 sınıf)</c:v>
                </c:pt>
              </c:strCache>
            </c:strRef>
          </c:tx>
          <c:spPr>
            <a:solidFill>
              <a:srgbClr val="2A78D6"/>
            </a:solidFill>
            <a:effectLst/>
          </c:spPr>
          <c:invertIfNegative val="0"/>
          <c:dLbls>
            <c:numFmt formatCode="0.0" sourceLinked="0"/>
            <c:txPr>
              <a:bodyPr/>
              <a:lstStyle/>
              <a:p>
                <a:pPr>
                  <a:defRPr b="0" i="0" strike="noStrike" sz="1100" u="none">
                    <a:solidFill>
                      <a:srgbClr val="17212B"/>
                    </a:solidFill>
                    <a:latin typeface="+mn-lt"/>
                  </a:defRPr>
                </a:pPr>
              </a:p>
            </c:txPr>
            <c:showLegendKey val="0"/>
            <c:showVal val="1"/>
            <c:showCatName val="0"/>
            <c:showSerName val="0"/>
            <c:showPercent val="0"/>
            <c:showBubbleSize val="0"/>
            <c:showLeaderLines val="0"/>
          </c:dLbls>
          <c:cat>
            <c:multiLvlStrRef>
              <c:f>Sheet1!$A$2:$A$5</c:f>
              <c:multiLvlStrCache>
                <c:ptCount val="4"/>
                <c:lvl>
                  <c:pt idx="0">
                    <c:v>RAW_Lei (25)</c:v>
                  </c:pt>
                  <c:pt idx="1">
                    <c:v>FB_20_FD (280)</c:v>
                  </c:pt>
                  <c:pt idx="2">
                    <c:v>FB_20_FD-mean (20)</c:v>
                  </c:pt>
                  <c:pt idx="3">
                    <c:v>FB_20_rel, öneri (20)</c:v>
                  </c:pt>
                </c:lvl>
              </c:multiLvlStrCache>
            </c:multiLvlStrRef>
          </c:cat>
          <c:val>
            <c:numRef>
              <c:f>Sheet1!$B$2:$B$5</c:f>
              <c:numCache>
                <c:formatCode>General</c:formatCode>
                <c:ptCount val="4"/>
                <c:pt idx="0">
                  <c:v>97.1</c:v>
                </c:pt>
                <c:pt idx="1">
                  <c:v>99.9</c:v>
                </c:pt>
                <c:pt idx="2">
                  <c:v>99.6</c:v>
                </c:pt>
                <c:pt idx="3">
                  <c:v>98.8</c:v>
                </c:pt>
              </c:numCache>
            </c:numRef>
          </c:val>
        </c:ser>
        <c:ser>
          <c:idx val="1"/>
          <c:order val="1"/>
          <c:tx>
            <c:strRef>
              <c:f>Sheet1!$C$1</c:f>
              <c:strCache>
                <c:ptCount val="1"/>
                <c:pt idx="0">
                  <c:v>Sızıntısız (görülmemiş hata boyutu, 4 sınıf)</c:v>
                </c:pt>
              </c:strCache>
            </c:strRef>
          </c:tx>
          <c:spPr>
            <a:solidFill>
              <a:srgbClr val="E8622C"/>
            </a:solidFill>
            <a:effectLst/>
          </c:spPr>
          <c:invertIfNegative val="0"/>
          <c:dLbls>
            <c:numFmt formatCode="0.0" sourceLinked="0"/>
            <c:txPr>
              <a:bodyPr/>
              <a:lstStyle/>
              <a:p>
                <a:pPr>
                  <a:defRPr b="0" i="0" strike="noStrike" sz="1100" u="none">
                    <a:solidFill>
                      <a:srgbClr val="17212B"/>
                    </a:solidFill>
                    <a:latin typeface="+mn-lt"/>
                  </a:defRPr>
                </a:pPr>
              </a:p>
            </c:txPr>
            <c:showLegendKey val="0"/>
            <c:showVal val="1"/>
            <c:showCatName val="0"/>
            <c:showSerName val="0"/>
            <c:showPercent val="0"/>
            <c:showBubbleSize val="0"/>
            <c:showLeaderLines val="0"/>
          </c:dLbls>
          <c:cat>
            <c:multiLvlStrRef>
              <c:f>Sheet1!$A$2:$A$5</c:f>
              <c:multiLvlStrCache>
                <c:ptCount val="4"/>
                <c:lvl>
                  <c:pt idx="0">
                    <c:v>RAW_Lei (25)</c:v>
                  </c:pt>
                  <c:pt idx="1">
                    <c:v>FB_20_FD (280)</c:v>
                  </c:pt>
                  <c:pt idx="2">
                    <c:v>FB_20_FD-mean (20)</c:v>
                  </c:pt>
                  <c:pt idx="3">
                    <c:v>FB_20_rel, öneri (20)</c:v>
                  </c:pt>
                </c:lvl>
              </c:multiLvlStrCache>
            </c:multiLvlStrRef>
          </c:cat>
          <c:val>
            <c:numRef>
              <c:f>Sheet1!$C$2:$C$5</c:f>
              <c:numCache>
                <c:formatCode>General</c:formatCode>
                <c:ptCount val="4"/>
                <c:pt idx="0">
                  <c:v>43.9</c:v>
                </c:pt>
                <c:pt idx="1">
                  <c:v>64.3</c:v>
                </c:pt>
                <c:pt idx="2">
                  <c:v>57.4</c:v>
                </c:pt>
                <c:pt idx="3">
                  <c:v>45.7</c:v>
                </c:pt>
              </c:numCache>
            </c:numRef>
          </c:val>
        </c:ser>
        <c:dLbls>
          <c:numFmt formatCode="0.0" sourceLinked="0"/>
          <c:txPr>
            <a:bodyPr/>
            <a:lstStyle/>
            <a:p>
              <a:pPr>
                <a:defRPr b="0" i="0" strike="noStrike" sz="1100" u="none">
                  <a:solidFill>
                    <a:srgbClr val="1721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7212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7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280"/>
                </a:solidFill>
                <a:latin typeface="+mn-lt"/>
              </a:defRPr>
            </a:pPr>
            <a:r>
              <a:rPr sz="1200" b="0" i="0" u="none" strike="noStrike">
                <a:solidFill>
                  <a:srgbClr val="6B7280"/>
                </a:solidFill>
                <a:latin typeface="+mn-lt"/>
              </a:rPr>
              <a:t>Doğruluk (%) · 2 hp ile eğitilen model, farklı yüklerde</a:t>
            </a:r>
          </a:p>
        </c:rich>
      </c:tx>
      <c:layout/>
      <c:overlay val="0"/>
    </c:title>
    <c:autoTitleDeleted val="0"/>
    <c:plotArea>
      <c:layout/>
      <c:lineChart>
        <c:varyColors val="0"/>
        <c:ser>
          <c:idx val="0"/>
          <c:order val="0"/>
          <c:tx>
            <c:strRef>
              <c:f>Sheet1!$B$1</c:f>
              <c:strCache>
                <c:ptCount val="1"/>
                <c:pt idx="0">
                  <c:v>FB_20_FD</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Sheet1!$A$2:$A$5</c:f>
              <c:multiLvlStrCache>
                <c:ptCount val="4"/>
                <c:lvl>
                  <c:pt idx="0">
                    <c:v>0 hp · 1796 rpm</c:v>
                  </c:pt>
                  <c:pt idx="1">
                    <c:v>1 hp · 1772 rpm</c:v>
                  </c:pt>
                  <c:pt idx="2">
                    <c:v>2 hp · 1748 rpm (eğitim)</c:v>
                  </c:pt>
                  <c:pt idx="3">
                    <c:v>3 hp · 1721 rpm</c:v>
                  </c:pt>
                </c:lvl>
              </c:multiLvlStrCache>
            </c:multiLvlStrRef>
          </c:cat>
          <c:val>
            <c:numRef>
              <c:f>Sheet1!$B$2:$B$5</c:f>
              <c:numCache>
                <c:formatCode>General</c:formatCode>
                <c:ptCount val="4"/>
                <c:pt idx="0">
                  <c:v>84.6</c:v>
                </c:pt>
                <c:pt idx="1">
                  <c:v>100</c:v>
                </c:pt>
                <c:pt idx="2">
                  <c:v>99.9</c:v>
                </c:pt>
                <c:pt idx="3">
                  <c:v>92.2</c:v>
                </c:pt>
              </c:numCache>
            </c:numRef>
          </c:val>
          <c:smooth val="0"/>
        </c:ser>
        <c:ser>
          <c:idx val="1"/>
          <c:order val="1"/>
          <c:tx>
            <c:strRef>
              <c:f>Sheet1!$C$1</c:f>
              <c:strCache>
                <c:ptCount val="1"/>
                <c:pt idx="0">
                  <c:v>FB_20_FD-mean</c:v>
                </c:pt>
              </c:strCache>
            </c:strRef>
          </c:tx>
          <c:spPr>
            <a:solidFill>
              <a:srgbClr val="1BAF7A"/>
            </a:solidFill>
            <a:ln w="3175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BAF7A"/>
              </a:solidFill>
              <a:ln w="9525" cap="flat">
                <a:solidFill>
                  <a:srgbClr val="1BAF7A"/>
                </a:solidFill>
                <a:prstDash val="solid"/>
                <a:round/>
              </a:ln>
              <a:effectLst/>
            </c:spPr>
          </c:marker>
          <c:cat>
            <c:multiLvlStrRef>
              <c:f>Sheet1!$A$2:$A$5</c:f>
              <c:multiLvlStrCache>
                <c:ptCount val="4"/>
                <c:lvl>
                  <c:pt idx="0">
                    <c:v>0 hp · 1796 rpm</c:v>
                  </c:pt>
                  <c:pt idx="1">
                    <c:v>1 hp · 1772 rpm</c:v>
                  </c:pt>
                  <c:pt idx="2">
                    <c:v>2 hp · 1748 rpm (eğitim)</c:v>
                  </c:pt>
                  <c:pt idx="3">
                    <c:v>3 hp · 1721 rpm</c:v>
                  </c:pt>
                </c:lvl>
              </c:multiLvlStrCache>
            </c:multiLvlStrRef>
          </c:cat>
          <c:val>
            <c:numRef>
              <c:f>Sheet1!$C$2:$C$5</c:f>
              <c:numCache>
                <c:formatCode>General</c:formatCode>
                <c:ptCount val="4"/>
                <c:pt idx="0">
                  <c:v>72.1</c:v>
                </c:pt>
                <c:pt idx="1">
                  <c:v>99.7</c:v>
                </c:pt>
                <c:pt idx="2">
                  <c:v>99.6</c:v>
                </c:pt>
                <c:pt idx="3">
                  <c:v>88.1</c:v>
                </c:pt>
              </c:numCache>
            </c:numRef>
          </c:val>
          <c:smooth val="0"/>
        </c:ser>
        <c:ser>
          <c:idx val="2"/>
          <c:order val="2"/>
          <c:tx>
            <c:strRef>
              <c:f>Sheet1!$D$1</c:f>
              <c:strCache>
                <c:ptCount val="1"/>
                <c:pt idx="0">
                  <c:v>RAW_Lei</c:v>
                </c:pt>
              </c:strCache>
            </c:strRef>
          </c:tx>
          <c:spPr>
            <a:solidFill>
              <a:srgbClr val="6B7280"/>
            </a:solidFill>
            <a:ln w="31750" cap="flat">
              <a:solidFill>
                <a:srgbClr val="6B72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6B7280"/>
              </a:solidFill>
              <a:ln w="9525" cap="flat">
                <a:solidFill>
                  <a:srgbClr val="6B7280"/>
                </a:solidFill>
                <a:prstDash val="solid"/>
                <a:round/>
              </a:ln>
              <a:effectLst/>
            </c:spPr>
          </c:marker>
          <c:cat>
            <c:multiLvlStrRef>
              <c:f>Sheet1!$A$2:$A$5</c:f>
              <c:multiLvlStrCache>
                <c:ptCount val="4"/>
                <c:lvl>
                  <c:pt idx="0">
                    <c:v>0 hp · 1796 rpm</c:v>
                  </c:pt>
                  <c:pt idx="1">
                    <c:v>1 hp · 1772 rpm</c:v>
                  </c:pt>
                  <c:pt idx="2">
                    <c:v>2 hp · 1748 rpm (eğitim)</c:v>
                  </c:pt>
                  <c:pt idx="3">
                    <c:v>3 hp · 1721 rpm</c:v>
                  </c:pt>
                </c:lvl>
              </c:multiLvlStrCache>
            </c:multiLvlStrRef>
          </c:cat>
          <c:val>
            <c:numRef>
              <c:f>Sheet1!$D$2:$D$5</c:f>
              <c:numCache>
                <c:formatCode>General</c:formatCode>
                <c:ptCount val="4"/>
                <c:pt idx="0">
                  <c:v>73.9</c:v>
                </c:pt>
                <c:pt idx="1">
                  <c:v>94.6</c:v>
                </c:pt>
                <c:pt idx="2">
                  <c:v>97.1</c:v>
                </c:pt>
                <c:pt idx="3">
                  <c:v>83.8</c:v>
                </c:pt>
              </c:numCache>
            </c:numRef>
          </c:val>
          <c:smooth val="0"/>
        </c:ser>
        <c:ser>
          <c:idx val="3"/>
          <c:order val="3"/>
          <c:tx>
            <c:strRef>
              <c:f>Sheet1!$E$1</c:f>
              <c:strCache>
                <c:ptCount val="1"/>
                <c:pt idx="0">
                  <c:v>FB_20_rel (öneri)</c:v>
                </c:pt>
              </c:strCache>
            </c:strRef>
          </c:tx>
          <c:spPr>
            <a:solidFill>
              <a:srgbClr val="E8622C"/>
            </a:solidFill>
            <a:ln w="31750" cap="flat">
              <a:solidFill>
                <a:srgbClr val="E862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8622C"/>
              </a:solidFill>
              <a:ln w="9525" cap="flat">
                <a:solidFill>
                  <a:srgbClr val="E8622C"/>
                </a:solidFill>
                <a:prstDash val="solid"/>
                <a:round/>
              </a:ln>
              <a:effectLst/>
            </c:spPr>
          </c:marker>
          <c:cat>
            <c:multiLvlStrRef>
              <c:f>Sheet1!$A$2:$A$5</c:f>
              <c:multiLvlStrCache>
                <c:ptCount val="4"/>
                <c:lvl>
                  <c:pt idx="0">
                    <c:v>0 hp · 1796 rpm</c:v>
                  </c:pt>
                  <c:pt idx="1">
                    <c:v>1 hp · 1772 rpm</c:v>
                  </c:pt>
                  <c:pt idx="2">
                    <c:v>2 hp · 1748 rpm (eğitim)</c:v>
                  </c:pt>
                  <c:pt idx="3">
                    <c:v>3 hp · 1721 rpm</c:v>
                  </c:pt>
                </c:lvl>
              </c:multiLvlStrCache>
            </c:multiLvlStrRef>
          </c:cat>
          <c:val>
            <c:numRef>
              <c:f>Sheet1!$E$2:$E$5</c:f>
              <c:numCache>
                <c:formatCode>General</c:formatCode>
                <c:ptCount val="4"/>
                <c:pt idx="0">
                  <c:v>68.9</c:v>
                </c:pt>
                <c:pt idx="1">
                  <c:v>98.2</c:v>
                </c:pt>
                <c:pt idx="2">
                  <c:v>98.8</c:v>
                </c:pt>
                <c:pt idx="3">
                  <c:v>95.8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7212B"/>
                </a:solidFill>
                <a:latin typeface="+mn-lt"/>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17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Bugün rulman arıza teşhisi üzerine 2023'te Entropy dergisinde yayınlanmış bir makaleyi inceleyeceğim. Makale %99,9'un üzerinde doğruluk raporluyor. Sunumun sorusu şu: bu rakam gerçek mi, yani sahada da tutar mı? Sadece makaleyi anlatmayacağım; deneyi gerçek veriyle kendim tekrar ürettim ve değerlendirme biçimini değiştirince ne olduğunu test ettim.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 bir rulman distribütöründe iş geliştirme mühendisiyim, bu yüzden konu benim için teorik değil. Sahada bir rulmanın arızalanması, tüm üretim hattının durması demek. Kestirimci bakımın amacı titreşim ölçümüyle hasarı erken görmek. Bu işi bugün çoğunlukla uzman analistler spektruma bakarak yapıyor. Makine öğrenmesi bunu otomatikleştirmeye çalışıyor; bu da veri madenciliğinin doğrudan bir endüstriyel uygulaması.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Rulman hasarının fiziği şöyle: dış bilezikte bir çukur varsa, her bilye üzerinden geçerken bir darbe olur. Bilyeler düzenli geçtiği için darbeler periyodiktir ve frekansı tamamen geometri ve devirden hesaplanabilir. Bu tablodaki değerleri makaledeki 6205 rulmanı için ben hesapladım. Makale de karakteristik frekansların 11 ile 156 Hz arasında olduğunu söylüyor, yani hesap tutarlı. Önemli bir not: bu frekanslar devirle orantılı. Devir değişirse hepsi kayar; bunu ileride bir eleştiri olarak kullanacağım.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grafik gerçek CWRU verisi, makalenin kullandığı veri seti. Üstte sağlam rulman: sinyal sakin, gürültüye benziyor ve kurtosis değeri 2,9, yani normal dağılıma çok yakın. Altta dış bileziğinde 0,007 inçlik bir hasar olan rulman: yaklaşık her 9,6 milisaniyede bir darbe var. Bu tam olarak 1 bölü BPFO. Kurtosis 6,9'a çıkıyor, çünkü kurtosis sinyaldeki seyrek ama büyük sivrilikleri ölçer.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Darbe kısa ve keskin bir olay, bir zile çekiçle vurmak gibi. Makinenin doğal frekanslarını, yani rezonansı çınlatır. Bu yüzden ham spektrumda enerjiyi 2,5 ile 4 kHz civarında görüyoruz, 105 Hz'de değil. Çözüm zarf analizi: önce rezonans bandını filtreliyoruz, sonra Hilbert dönüşümüyle zarfı çıkarıyoruz, sonra zarfın spektrumuna bakıyoruz. Gerçek veride tepe 105,0 Hz'de çıktı; hesapladığımız BPFO 104,4 Hz. Harmonikleri de net görünüyor. Bu adımın önemi şu: makale zarf analizinin işe yaramadığını söylüyor, ama filtreleme adımından hiç söz etmiyor. Bunu eleştiriler kısmında tekrar ele alacağım.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yıllarda bu alandaki yayınların çoğu derin öğrenmeye kaymış durumda. CNN gibi modeller ham sinyali alıp özellikleri kendileri öğreniyor. Avantajı alan bilgisi gerektirmemesi; dezavantajı çok veri istemesi, pahalı olması ve kararını açıklayamaması. Makale bu akımın tersine gidiyor ve şunu soruyor: uzman bilgisiyle seçilmiş özellikler ve basit bir Random Forest, aynı işi daha ucuz ve açıklanabilir şekilde yapabilir mi? Bu soru hocamızın listesindeki açıklanabilir yapay zekâ ve verimli yapay zekâ başlıklarıyla doğrudan örtüşüyor.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Makalenin yöntemi, veri madenciliğindeki KDD sürecinin birebir karşılığı. Veri: Case Western Reserve Üniversitesi'nin açık rulman veri seti, 2 beygirgücü yükte 10 sınıf. Ön işleme: her kayıt 1670 örneklik pencerelere bölünüyor; bu yaklaşık 35 milisaniye, kabaca bir mil turu. Dönüştürme: 42 farklı özellik formülü, dört farklı sinyal işleme yöntemiyle birleştirilerek 19 özellik seti oluşturuluyor. Veri madenciliği adımı: Random Forest ve rastgele 5 katlı çapraz doğrulama. Bu son ayrıntıya, yani "rastgele" kelimesine dikkat etmenizi istiyorum, çünkü sunumun ikinci yarısı tam onunla ilgili.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Makalenin bulgusu şaşırtıcı derecede basit: en iyi sonucu, spektrumu 20 eşit banda bölüp her bandın ortalamasını almak veriyor. Doğruluk %99,9'un üzerinde. Aynı veride derin bir CNN %98,5'te kalmış. Random Forest'ın eğitimi yaklaşık bir saniye sürüyor. Alttaki grafik bunun nedenini gösteriyor; bunu gerçek veriyle ben çizdim. Her hata tipi farklı bantları öne çıkarıyor, sağlam rulmanın bant deseni ise daha düz. Model bu parmak izlerini ayırt ediyor ve hangi bandın önemli olduğunu söyleyebildiği için karar açıklanabilir oluyor.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Eleştiriye geçmeden önce yapmam gereken ilk şey makaleyi birebir tekrar üretmekti. Aksi halde bulduğum farkın sebebi yanlış uygulama olabilirdi. Python ve scikit-learn ile aynı veriyi, aynı pencere boyunu, aynı Random Forest ayarlarını ve aynı 5 katlı çapraz doğrulamayı kullandım. Frekans bandı özelliklerinde %99,94 elde ettim; makale %99,9'un üzerinde diyor. İstatistiksel özellikler de makaledeki gibi daha düşük kaldı. Yani protokolü doğru kurmuşum.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 burada bir sorun var. CWRU'da her sınıf için tek bir kayıt var: bir rulman, bir sensör, bir montaj, birkaç saniyelik ölçüm. Makale bu kaydı 280 parçaya kesip rastgele karıştırıyor. Aynı kaydın 279. parçası eğitimde, 280. parçası testte olabiliyor. O zaman soru şu: model dış bilezik hasarının neye benzediğini mi öğreniyor, yoksa sadece bu belirli kaydın neye benzediğini 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Buna makine öğrenmesinde veri sızıntısı deniyor. Bir benzetme yapayım: öğrencilere sınavda, çalıştıkları soruların fotokopisini soruyorsunuz. Not yüksek çıkar ama bu öğrendiklerini göstermez. Solda makalenin yaptığı var: her kayıttan rastgele parçalar teste gidiyor. Sağda literatürde önerilen yöntem var: bir hata boyutunun kaydı tamamen teste ayrılıyor, model o rulmanı eğitimde hiç görmüyor. Bu sorun CWRU için bilinen bir sorun; 2022'de Mechanical Systems and Signal Processing dergisinde Hendriks ve arkadaşları bunu ayrıntılı olarak göstermiş. Ben de makalenin özelliklerini bu yöntemle test ettim.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Sonuç bu. Mavi çubuklar makalenin protokolü: hepsi %97 ile %99,9 arasında. Turuncu çubuklar sızıntısız test: aynı özellikler, aynı model, sadece model test edilen rulmanı eğitimde hiç görmüyor. En iyi set %64'e, makalenin yıldızı olan 20 bantlık set %57'ye, istatistik özellikler %44'e düşüyor. Dört sınıfta şans seviyesi %25. Altını çizmem gereken iki nokta var. Birincisi, görev 10 sınıftan 4 sınıfa indi, yani teoride daha kolay olmalıydı; buna rağmen düştü. İkincisi, makaleye haksızlık etmemek lazım: bant özellikleri istatistik özelliklerden hâlâ daha iyi. Yani makalenin göreli karşılaştırması büyük ölçüde geçerli; sorgulanan şey mutlak rakam.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Asıl ilginç bulgu, hataların nerede yapıldığına bakınca ortaya çıkıyor. Görülmemiş rulmanlarda bile sağlam ile hasarlı ayrımı %100 doğru: hiçbir hasarlı rulman sağlam sanılmadı. Ama hasarın yeri sorulunca model çöküyor: iç bilezik hataları sadece %24, dış bilezik %45 doğru tanınıyor, çoğu bilye hatası sanılıyor. Sahadaki karşılığı şu: bu yöntem "bu rulmanda bir sorun var" alarmını vermek için gayet iyi. Hasarın yerini söylemek için ise başta gösterdiğim fiziğe, yani zarf spektrumu ve BPFO, BPFI hesabına ihtiyaç var. Bir sınırlama notu: tek bir sağlam rulman kaydı olduğu için sağlam sınıfında zamansal bölme kullandım, bu %100 biraz iyimser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de makalenin sadece tek bir yük koşulu kullanmasını test ettim. 2 beygirgücünde eğittiğim modeli aynı rulmanların başka yüklerdeki kayıtlarıyla test ettim. 1 hp'de neredeyse hiçbir şey değişmiyor, ama 0 hp'de en iyi set bile %85'e iniyor. Burada devir farkı sadece yaklaşık %3. Nedeni ilk slaytlarda gördüğümüz fizik: arıza frekansları devirle orantılı. Devir değişince enerji başka bantlara kayıyor ve sabit Hz bantlarından öğrenilmiş desen bozuluyor. Sahada bir değirmen ya da fan çok daha geniş bir devir aralığında çalışabilir. Not: bu testte rulmanlar aynı olduğu için sızıntı hâlâ var; sadece yük etkisini izole ediyor.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Makaleye kendi katkımı eklemeyi denedim. Fikrim şuydu: bant genlikleri sensörün kazancına ve montajına bağlı, bu yüzden her bandı toplam enerjiye bölersem özellikler kurulumdan bağımsız hale gelir ve daha iyi genelleşir. Sonuç: tutmadı. Sızıntısız testte %46 aldım, yani normal bantlardan daha kötü. Yorumum şu: enerjinin mutlak seviyesi de hata tipi hakkında bilgi taşıyordu ve normalize ederken o bilgiyi de attım. Tek olumlu işaret 3 beygirgücü yük testindeki %96. Bunu dürüstçe raporlamak istedim, çünkü negatif sonuç da bilimsel bir sonuç.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Özetlersem: yöntem güçlü. Hesaplaması ucuz, tek bir FFT ve 20 sayı; bu yüzden uç cihazlarda çalıştırmaya uygun. Açıklanabilir, çünkü her özellik fiziksel bir frekans bandı. Çalışma sistematik ve açık veriyle yapılmış, ki ben de bu sayede tekrar üretebildim. Zayıf yanlarda ilk ikisini deneyle test ettim: veri sızıntısı ve tek yük koşulu. Diğer üçü yöntem bölümünü okurken fark ettiğim eksikler: zarf analizinden önce bant geçiren filtre belirtilmemiş, PCA'dan önce standartlaştırma belirtilmemiş, açıklanabilirlik de sadece Random Forest'ın kendi önem ölçüsüne dayanıyor. Permütasyon önemi ya da SHAP ile desteklenebilirdi.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Sunumu üç cümleyle bağlamak istiyorum. Yöntem açısından: frekans bandı özellikleri ucuz ve açıklanabilir bir arıza alarmı olarak gayet kullanışlı. Değerlendirme açısından: bir doğruluk rakamı, nasıl ölçüldüğü kadar değerli. Rulman verisinde test kümesi kayıt bazında ayrılmazsa %99,9 gibi rakamlar sahaya taşınamaz. Son olarak ileriye dönük bir fikir: bantları devre göre ölçekleyip, yani mertebe takibi yapıp, zarf analizindeki fiziksel bilgiyle birleştiren ve bir sensörün içinde çalışabilecek hafif bir model. Bu, hocamızın listesindeki uç yapay zekâ ve verimli yapay zekâ başlıklarına oturan bir tez konusu olabilir. Teşekkür ederim.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Kullandığım kaynaklar bunlar. İncelediğim makale, veri sızıntısı eleştirisinin dayandığı Hendriks ve arkadaşlarının 2022 çalışması, CWRU verisinin referans analizi olan Smith ve Randall, zarf analizi için Randall ve Antoni'nin rulman teşhisi rehberi. Deney kodum ve sonuçlarım hazır, isteyen olursa paylaşabilirim.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640080"/>
            <a:ext cx="10881360" cy="365760"/>
          </a:xfrm>
          <a:prstGeom prst="rect">
            <a:avLst/>
          </a:prstGeom>
          <a:noFill/>
          <a:ln/>
        </p:spPr>
        <p:txBody>
          <a:bodyPr wrap="square" rtlCol="0"/>
          <a:lstStyle>
            <a:lvl1pPr indent="0" marL="0">
              <a:buNone/>
              <a:defRPr lang="en-US" sz="1400" b="1" spc="3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1828800"/>
            <a:ext cx="108813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640080" y="3931920"/>
            <a:ext cx="9601200" cy="914400"/>
          </a:xfrm>
          <a:prstGeom prst="rect">
            <a:avLst/>
          </a:prstGeom>
          <a:noFill/>
          <a:ln/>
        </p:spPr>
        <p:txBody>
          <a:bodyPr wrap="square" rtlCol="0"/>
          <a:lstStyle>
            <a:lvl1pPr indent="0" marL="0">
              <a:buNone/>
              <a:defRPr lang="en-US" sz="2000" dirty="0">
                <a:solidFill>
                  <a:srgbClr val="C9D3DD"/>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URGU">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737360"/>
            <a:ext cx="10515600" cy="365760"/>
          </a:xfrm>
          <a:prstGeom prst="rect">
            <a:avLst/>
          </a:prstGeom>
          <a:noFill/>
          <a:ln/>
        </p:spPr>
        <p:txBody>
          <a:bodyPr wrap="square" rtlCol="0"/>
          <a:lstStyle>
            <a:lvl1pPr indent="0" marL="0">
              <a:buNone/>
              <a:defRPr lang="en-US" sz="1600" b="1" spc="300" kern="0" dirty="0">
                <a:solidFill>
                  <a:schemeClr val="tx1"/>
                </a:solidFill>
              </a:defRPr>
            </a:lvl1pPr>
          </a:lstStyle>
          <a:p>
            <a:pPr indent="0" marL="0">
              <a:buNone/>
            </a:pPr>
            <a:endParaRPr lang="en-US" sz="1600" dirty="0"/>
          </a:p>
        </p:txBody>
      </p:sp>
      <p:sp>
        <p:nvSpPr>
          <p:cNvPr id="3" name="Text 0"/>
          <p:cNvSpPr/>
          <p:nvPr>
            <p:ph idx="101" type="title" hasCustomPrompt="1"/>
          </p:nvPr>
        </p:nvSpPr>
        <p:spPr>
          <a:xfrm>
            <a:off x="822960" y="2194560"/>
            <a:ext cx="10515600" cy="182880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4" name="Text 0"/>
          <p:cNvSpPr/>
          <p:nvPr>
            <p:ph idx="102" type="body" hasCustomPrompt="1"/>
          </p:nvPr>
        </p:nvSpPr>
        <p:spPr>
          <a:xfrm>
            <a:off x="822960" y="4114800"/>
            <a:ext cx="9601200" cy="822960"/>
          </a:xfrm>
          <a:prstGeom prst="rect">
            <a:avLst/>
          </a:prstGeom>
          <a:noFill/>
          <a:ln/>
        </p:spPr>
        <p:txBody>
          <a:bodyPr wrap="square" rtlCol="0"/>
          <a:lstStyle>
            <a:lvl1pPr indent="0" marL="0">
              <a:buNone/>
              <a:defRPr lang="en-US" sz="2200" dirty="0">
                <a:solidFill>
                  <a:schemeClr val="tx1"/>
                </a:solidFill>
              </a:defRPr>
            </a:lvl1pPr>
          </a:lstStyle>
          <a:p>
            <a:pP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640080"/>
            <a:ext cx="10881360" cy="365760"/>
          </a:xfrm>
          <a:prstGeom prst="rect">
            <a:avLst/>
          </a:prstGeom>
          <a:noFill/>
          <a:ln/>
        </p:spPr>
        <p:txBody>
          <a:bodyPr wrap="square" rtlCol="0"/>
          <a:lstStyle/>
          <a:p>
            <a:pPr indent="0" marL="0">
              <a:buNone/>
            </a:pPr>
            <a:r>
              <a:rPr lang="en-US" sz="1400" b="1" spc="300" kern="0" dirty="0">
                <a:solidFill>
                  <a:schemeClr val="accent1"/>
                </a:solidFill>
              </a:rPr>
              <a:t>VERI MADENCILIĞI · VIZE SUNUMU</a:t>
            </a:r>
            <a:endParaRPr lang="en-US" sz="1400" dirty="0"/>
          </a:p>
        </p:txBody>
      </p:sp>
      <p:sp>
        <p:nvSpPr>
          <p:cNvPr id="3" name="Text 0"/>
          <p:cNvSpPr/>
          <p:nvPr>
            <p:ph idx="101" type="title" hasCustomPrompt="1"/>
          </p:nvPr>
        </p:nvSpPr>
        <p:spPr>
          <a:xfrm>
            <a:off x="640080" y="1828800"/>
            <a:ext cx="10881360" cy="2011680"/>
          </a:xfrm>
          <a:prstGeom prst="rect">
            <a:avLst/>
          </a:prstGeom>
          <a:noFill/>
          <a:ln/>
        </p:spPr>
        <p:txBody>
          <a:bodyPr wrap="square" rtlCol="0" anchor="t"/>
          <a:lstStyle/>
          <a:p>
            <a:pPr algn="l" indent="0" marL="0">
              <a:buNone/>
            </a:pPr>
            <a:r>
              <a:rPr lang="en-US" sz="5400" b="1" dirty="0">
                <a:solidFill>
                  <a:schemeClr val="bg1"/>
                </a:solidFill>
              </a:rPr>
              <a:t>Rulman arıza teşhisinde</a:t>
            </a:r>
            <a:endParaRPr lang="en-US" sz="5400" dirty="0"/>
          </a:p>
          <a:p>
            <a:pPr algn="l" indent="0" marL="0">
              <a:buNone/>
            </a:pPr>
            <a:r>
              <a:rPr lang="en-US" sz="5400" b="1" dirty="0">
                <a:solidFill>
                  <a:schemeClr val="bg1"/>
                </a:solidFill>
              </a:rPr>
              <a:t>%99,9 gerçek mi?</a:t>
            </a:r>
            <a:endParaRPr lang="en-US" sz="5400" dirty="0"/>
          </a:p>
        </p:txBody>
      </p:sp>
      <p:sp>
        <p:nvSpPr>
          <p:cNvPr id="5" name="Text 0"/>
          <p:cNvSpPr/>
          <p:nvPr>
            <p:ph idx="102" type="body" hasCustomPrompt="1"/>
          </p:nvPr>
        </p:nvSpPr>
        <p:spPr>
          <a:xfrm>
            <a:off x="640080" y="3931920"/>
            <a:ext cx="9601200" cy="914400"/>
          </a:xfrm>
          <a:prstGeom prst="rect">
            <a:avLst/>
          </a:prstGeom>
          <a:noFill/>
          <a:ln/>
        </p:spPr>
        <p:txBody>
          <a:bodyPr wrap="square" rtlCol="0" anchor="t"/>
          <a:lstStyle/>
          <a:p>
            <a:pPr indent="0" marL="0">
              <a:buNone/>
            </a:pPr>
            <a:r>
              <a:rPr lang="en-US" sz="2000" dirty="0">
                <a:solidFill>
                  <a:srgbClr val="C9D3DD"/>
                </a:solidFill>
              </a:rPr>
              <a:t>Alan bilgisiyle özellik mühendisliği üzerine bir makalenin incelenmesi, tekrar üretilmesi ve veri sızıntısı testi</a:t>
            </a:r>
            <a:endParaRPr lang="en-US" sz="2000" dirty="0"/>
          </a:p>
        </p:txBody>
      </p:sp>
      <p:sp>
        <p:nvSpPr>
          <p:cNvPr id="6" name="Text 3"/>
          <p:cNvSpPr txBox="1"/>
          <p:nvPr/>
        </p:nvSpPr>
        <p:spPr>
          <a:xfrm>
            <a:off x="640080" y="5577840"/>
            <a:ext cx="4572000" cy="731520"/>
          </a:xfrm>
          <a:prstGeom prst="rect">
            <a:avLst/>
          </a:prstGeom>
          <a:noFill/>
          <a:ln/>
        </p:spPr>
        <p:txBody>
          <a:bodyPr wrap="square" lIns="0" tIns="0" rIns="0" bIns="0" rtlCol="0" anchor="t"/>
          <a:lstStyle/>
          <a:p>
            <a:pPr indent="0" marL="0">
              <a:spcAft>
                <a:spcPts val="600"/>
              </a:spcAft>
              <a:buNone/>
            </a:pPr>
            <a:r>
              <a:rPr lang="en-US" sz="1800" b="1" dirty="0">
                <a:solidFill>
                  <a:schemeClr val="bg1"/>
                </a:solidFill>
              </a:rPr>
              <a:t>Erdi Karaboğa</a:t>
            </a:r>
            <a:endParaRPr lang="en-US" sz="1600" dirty="0"/>
          </a:p>
          <a:p>
            <a:pPr indent="0" marL="0">
              <a:spcAft>
                <a:spcPts val="600"/>
              </a:spcAft>
              <a:buNone/>
            </a:pPr>
            <a:r>
              <a:rPr lang="en-US" sz="1400" dirty="0">
                <a:solidFill>
                  <a:schemeClr val="bg1"/>
                </a:solidFill>
              </a:rPr>
              <a:t>Ekim 2026</a:t>
            </a:r>
            <a:endParaRPr lang="en-US" sz="1600" dirty="0"/>
          </a:p>
        </p:txBody>
      </p:sp>
      <p:sp>
        <p:nvSpPr>
          <p:cNvPr id="7" name="Text 4"/>
          <p:cNvSpPr txBox="1"/>
          <p:nvPr/>
        </p:nvSpPr>
        <p:spPr>
          <a:xfrm>
            <a:off x="6035040" y="5806440"/>
            <a:ext cx="5486400" cy="548640"/>
          </a:xfrm>
          <a:prstGeom prst="rect">
            <a:avLst/>
          </a:prstGeom>
          <a:noFill/>
          <a:ln/>
        </p:spPr>
        <p:txBody>
          <a:bodyPr wrap="square" lIns="0" tIns="0" rIns="0" bIns="0" rtlCol="0" anchor="t"/>
          <a:lstStyle/>
          <a:p>
            <a:pPr algn="r" indent="0" marL="0">
              <a:spcAft>
                <a:spcPts val="600"/>
              </a:spcAft>
              <a:buNone/>
            </a:pPr>
            <a:r>
              <a:rPr lang="en-US" sz="1200" dirty="0">
                <a:solidFill>
                  <a:srgbClr val="C9D3DD"/>
                </a:solidFill>
              </a:rPr>
              <a:t>İncelenen makale: Bienefeld, Becker-Dombrowsky, Shatri, Kirchner · Entropy 25(9):1278, 2023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PROBLEM</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Bir rulman durunca tüm hat durur</a:t>
            </a:r>
            <a:endParaRPr lang="en-US" sz="3200" dirty="0"/>
          </a:p>
        </p:txBody>
      </p:sp>
      <p:sp>
        <p:nvSpPr>
          <p:cNvPr id="5" name="Kart Plansız duruş"/>
          <p:cNvSpPr/>
          <p:nvPr/>
        </p:nvSpPr>
        <p:spPr>
          <a:xfrm>
            <a:off x="640080" y="1920240"/>
            <a:ext cx="3429000" cy="2926080"/>
          </a:xfrm>
          <a:prstGeom prst="roundRect">
            <a:avLst>
              <a:gd name="adj" fmla="val 2500"/>
            </a:avLst>
          </a:prstGeom>
          <a:solidFill>
            <a:schemeClr val="bg2"/>
          </a:solidFill>
          <a:ln w="12700">
            <a:solidFill>
              <a:schemeClr val="bg2"/>
            </a:solidFill>
            <a:prstDash val="solid"/>
          </a:ln>
        </p:spPr>
      </p:sp>
      <p:sp>
        <p:nvSpPr>
          <p:cNvPr id="6" name="Numara 1"/>
          <p:cNvSpPr/>
          <p:nvPr/>
        </p:nvSpPr>
        <p:spPr>
          <a:xfrm>
            <a:off x="960120" y="224028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960120" y="224028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1</a:t>
            </a:r>
            <a:endParaRPr lang="en-US" sz="1800" dirty="0"/>
          </a:p>
        </p:txBody>
      </p:sp>
      <p:sp>
        <p:nvSpPr>
          <p:cNvPr id="8" name="Text 5"/>
          <p:cNvSpPr txBox="1"/>
          <p:nvPr/>
        </p:nvSpPr>
        <p:spPr>
          <a:xfrm>
            <a:off x="960120" y="3017520"/>
            <a:ext cx="2834640" cy="4572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Plansız duruş</a:t>
            </a:r>
            <a:endParaRPr lang="en-US" sz="2000" dirty="0"/>
          </a:p>
        </p:txBody>
      </p:sp>
      <p:sp>
        <p:nvSpPr>
          <p:cNvPr id="9" name="Text 6"/>
          <p:cNvSpPr txBox="1"/>
          <p:nvPr/>
        </p:nvSpPr>
        <p:spPr>
          <a:xfrm>
            <a:off x="960120" y="3566160"/>
            <a:ext cx="2834640" cy="118872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Çimento, kâğıt, çelik ve enerji tesislerinde tek bir rulman arızası üretimi saatlerce durdurabilir.</a:t>
            </a:r>
            <a:endParaRPr lang="en-US" sz="1600" dirty="0"/>
          </a:p>
        </p:txBody>
      </p:sp>
      <p:sp>
        <p:nvSpPr>
          <p:cNvPr id="10" name="Kart Kestirimci bakım"/>
          <p:cNvSpPr/>
          <p:nvPr/>
        </p:nvSpPr>
        <p:spPr>
          <a:xfrm>
            <a:off x="4343400" y="1920240"/>
            <a:ext cx="3429000" cy="2926080"/>
          </a:xfrm>
          <a:prstGeom prst="roundRect">
            <a:avLst>
              <a:gd name="adj" fmla="val 2500"/>
            </a:avLst>
          </a:prstGeom>
          <a:solidFill>
            <a:schemeClr val="bg2"/>
          </a:solidFill>
          <a:ln w="12700">
            <a:solidFill>
              <a:schemeClr val="bg2"/>
            </a:solidFill>
            <a:prstDash val="solid"/>
          </a:ln>
        </p:spPr>
      </p:sp>
      <p:sp>
        <p:nvSpPr>
          <p:cNvPr id="11" name="Numara 2"/>
          <p:cNvSpPr/>
          <p:nvPr/>
        </p:nvSpPr>
        <p:spPr>
          <a:xfrm>
            <a:off x="4663440" y="2240280"/>
            <a:ext cx="548640" cy="548640"/>
          </a:xfrm>
          <a:prstGeom prst="ellipse">
            <a:avLst/>
          </a:prstGeom>
          <a:solidFill>
            <a:schemeClr val="accent2"/>
          </a:solidFill>
          <a:ln w="12700">
            <a:solidFill>
              <a:schemeClr val="accent2"/>
            </a:solidFill>
            <a:prstDash val="solid"/>
          </a:ln>
        </p:spPr>
      </p:sp>
      <p:sp>
        <p:nvSpPr>
          <p:cNvPr id="12" name="Text 9"/>
          <p:cNvSpPr txBox="1"/>
          <p:nvPr/>
        </p:nvSpPr>
        <p:spPr>
          <a:xfrm>
            <a:off x="4663440" y="224028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2</a:t>
            </a:r>
            <a:endParaRPr lang="en-US" sz="1800" dirty="0"/>
          </a:p>
        </p:txBody>
      </p:sp>
      <p:sp>
        <p:nvSpPr>
          <p:cNvPr id="13" name="Text 10"/>
          <p:cNvSpPr txBox="1"/>
          <p:nvPr/>
        </p:nvSpPr>
        <p:spPr>
          <a:xfrm>
            <a:off x="4663440" y="3017520"/>
            <a:ext cx="2834640" cy="4572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Kestirimci bakım</a:t>
            </a:r>
            <a:endParaRPr lang="en-US" sz="2000" dirty="0"/>
          </a:p>
        </p:txBody>
      </p:sp>
      <p:sp>
        <p:nvSpPr>
          <p:cNvPr id="14" name="Text 11"/>
          <p:cNvSpPr txBox="1"/>
          <p:nvPr/>
        </p:nvSpPr>
        <p:spPr>
          <a:xfrm>
            <a:off x="4663440" y="3566160"/>
            <a:ext cx="2834640" cy="118872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Titreşim sensörüyle hasarı erken yakalayıp bakımı arıza olmadan planlamak.</a:t>
            </a:r>
            <a:endParaRPr lang="en-US" sz="1600" dirty="0"/>
          </a:p>
        </p:txBody>
      </p:sp>
      <p:sp>
        <p:nvSpPr>
          <p:cNvPr id="15" name="Kart Makine öğrenmesi"/>
          <p:cNvSpPr/>
          <p:nvPr/>
        </p:nvSpPr>
        <p:spPr>
          <a:xfrm>
            <a:off x="8046720" y="1920240"/>
            <a:ext cx="3429000" cy="2926080"/>
          </a:xfrm>
          <a:prstGeom prst="roundRect">
            <a:avLst>
              <a:gd name="adj" fmla="val 2500"/>
            </a:avLst>
          </a:prstGeom>
          <a:solidFill>
            <a:schemeClr val="bg2"/>
          </a:solidFill>
          <a:ln w="12700">
            <a:solidFill>
              <a:schemeClr val="bg2"/>
            </a:solidFill>
            <a:prstDash val="solid"/>
          </a:ln>
        </p:spPr>
      </p:sp>
      <p:sp>
        <p:nvSpPr>
          <p:cNvPr id="16" name="Numara 3"/>
          <p:cNvSpPr/>
          <p:nvPr/>
        </p:nvSpPr>
        <p:spPr>
          <a:xfrm>
            <a:off x="8366760" y="2240280"/>
            <a:ext cx="548640" cy="548640"/>
          </a:xfrm>
          <a:prstGeom prst="ellipse">
            <a:avLst/>
          </a:prstGeom>
          <a:solidFill>
            <a:schemeClr val="accent3"/>
          </a:solidFill>
          <a:ln w="12700">
            <a:solidFill>
              <a:schemeClr val="accent3"/>
            </a:solidFill>
            <a:prstDash val="solid"/>
          </a:ln>
        </p:spPr>
      </p:sp>
      <p:sp>
        <p:nvSpPr>
          <p:cNvPr id="17" name="Text 14"/>
          <p:cNvSpPr txBox="1"/>
          <p:nvPr/>
        </p:nvSpPr>
        <p:spPr>
          <a:xfrm>
            <a:off x="8366760" y="224028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3</a:t>
            </a:r>
            <a:endParaRPr lang="en-US" sz="1800" dirty="0"/>
          </a:p>
        </p:txBody>
      </p:sp>
      <p:sp>
        <p:nvSpPr>
          <p:cNvPr id="18" name="Text 15"/>
          <p:cNvSpPr txBox="1"/>
          <p:nvPr/>
        </p:nvSpPr>
        <p:spPr>
          <a:xfrm>
            <a:off x="8366760" y="3017520"/>
            <a:ext cx="2834640" cy="4572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Makine öğrenmesi</a:t>
            </a:r>
            <a:endParaRPr lang="en-US" sz="2000" dirty="0"/>
          </a:p>
        </p:txBody>
      </p:sp>
      <p:sp>
        <p:nvSpPr>
          <p:cNvPr id="19" name="Text 16"/>
          <p:cNvSpPr txBox="1"/>
          <p:nvPr/>
        </p:nvSpPr>
        <p:spPr>
          <a:xfrm>
            <a:off x="8366760" y="3566160"/>
            <a:ext cx="2834640" cy="118872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Analistin gözle yaptığı spektrum yorumunu otomatikleştirmek: veri madenciliğinin endüstriyel karşılığı.</a:t>
            </a:r>
            <a:endParaRPr lang="en-US" sz="16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ALAN BILGISI</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Her hata tipinin bir frekans parmak izi var</a:t>
            </a:r>
            <a:endParaRPr lang="en-US" sz="3200" dirty="0"/>
          </a:p>
        </p:txBody>
      </p:sp>
      <p:sp>
        <p:nvSpPr>
          <p:cNvPr id="5" name="Text 2"/>
          <p:cNvSpPr txBox="1"/>
          <p:nvPr/>
        </p:nvSpPr>
        <p:spPr>
          <a:xfrm>
            <a:off x="640080" y="1920240"/>
            <a:ext cx="5120640" cy="3291840"/>
          </a:xfrm>
          <a:prstGeom prst="rect">
            <a:avLst/>
          </a:prstGeom>
          <a:noFill/>
          <a:ln/>
        </p:spPr>
        <p:txBody>
          <a:bodyPr wrap="square" lIns="0" tIns="0" rIns="0" bIns="0" rtlCol="0" anchor="t"/>
          <a:lstStyle/>
          <a:p>
            <a:pPr indent="0" marL="0">
              <a:spcAft>
                <a:spcPts val="1400"/>
              </a:spcAft>
              <a:buNone/>
            </a:pPr>
            <a:r>
              <a:rPr lang="en-US" sz="1900" dirty="0">
                <a:solidFill>
                  <a:schemeClr val="tx2"/>
                </a:solidFill>
              </a:rPr>
              <a:t>Bilezikteki bir çukurun üzerinden her bilye geçtiğinde bir darbe oluşur. Darbelerin sıklığı yalnızca </a:t>
            </a:r>
            <a:pPr indent="0" marL="0">
              <a:spcAft>
                <a:spcPts val="1400"/>
              </a:spcAft>
              <a:buNone/>
            </a:pPr>
            <a:r>
              <a:rPr lang="en-US" sz="1900" b="1" dirty="0">
                <a:solidFill>
                  <a:schemeClr val="tx2"/>
                </a:solidFill>
              </a:rPr>
              <a:t>geometri</a:t>
            </a:r>
            <a:pPr indent="0" marL="0">
              <a:spcAft>
                <a:spcPts val="1400"/>
              </a:spcAft>
              <a:buNone/>
            </a:pPr>
            <a:r>
              <a:rPr lang="en-US" sz="1900" dirty="0">
                <a:solidFill>
                  <a:schemeClr val="tx2"/>
                </a:solidFill>
              </a:rPr>
              <a:t> ve </a:t>
            </a:r>
            <a:pPr indent="0" marL="0">
              <a:spcAft>
                <a:spcPts val="1400"/>
              </a:spcAft>
              <a:buNone/>
            </a:pPr>
            <a:r>
              <a:rPr lang="en-US" sz="1900" b="1" dirty="0">
                <a:solidFill>
                  <a:schemeClr val="tx2"/>
                </a:solidFill>
              </a:rPr>
              <a:t>devir</a:t>
            </a:r>
            <a:pPr indent="0" marL="0">
              <a:spcAft>
                <a:spcPts val="1400"/>
              </a:spcAft>
              <a:buNone/>
            </a:pPr>
            <a:r>
              <a:rPr lang="en-US" sz="1900" dirty="0">
                <a:solidFill>
                  <a:schemeClr val="tx2"/>
                </a:solidFill>
              </a:rPr>
              <a:t> ile belirlenir.</a:t>
            </a:r>
            <a:endParaRPr lang="en-US" sz="1900" dirty="0"/>
          </a:p>
          <a:p>
            <a:pPr indent="0" marL="0">
              <a:spcAft>
                <a:spcPts val="1400"/>
              </a:spcAft>
              <a:buNone/>
            </a:pPr>
            <a:r>
              <a:rPr lang="en-US" sz="1900" dirty="0">
                <a:solidFill>
                  <a:schemeClr val="tx2"/>
                </a:solidFill>
              </a:rPr>
              <a:t>Örnek: makaledeki 6205 rulmanı, 9 bilye, 1748 rpm (29,1 Hz mil hızı).</a:t>
            </a:r>
            <a:endParaRPr lang="en-US" sz="1900" dirty="0"/>
          </a:p>
          <a:p>
            <a:pPr indent="0" marL="0">
              <a:spcAft>
                <a:spcPts val="1400"/>
              </a:spcAft>
              <a:buNone/>
            </a:pPr>
            <a:r>
              <a:rPr lang="en-US" sz="1900" i="1" dirty="0">
                <a:solidFill>
                  <a:srgbClr val="6B7280"/>
                </a:solidFill>
              </a:rPr>
              <a:t>BPFO = n · fᵣ / 2 · (1 − d/D · cos α)</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09360" y="2011680"/>
          <a:ext cx="5212080" cy="914400"/>
        </p:xfrm>
        <a:graphic>
          <a:graphicData uri="http://schemas.openxmlformats.org/drawingml/2006/table">
            <a:tbl>
              <a:tblPr/>
              <a:tblGrid>
                <a:gridCol w="2834640"/>
                <a:gridCol w="1188720"/>
                <a:gridCol w="1188720"/>
              </a:tblGrid>
              <a:tr h="502920">
                <a:tc>
                  <a:txBody>
                    <a:bodyPr/>
                    <a:lstStyle/>
                    <a:p>
                      <a:pPr algn="l" indent="0" marL="0">
                        <a:buNone/>
                      </a:pPr>
                      <a:r>
                        <a:rPr lang="en-US" sz="1600" b="1" dirty="0">
                          <a:solidFill>
                            <a:srgbClr val="FFFFFF"/>
                          </a:solidFill>
                        </a:rPr>
                        <a:t>Hata tipi</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F3346"/>
                    </a:solidFill>
                  </a:tcPr>
                </a:tc>
                <a:tc>
                  <a:txBody>
                    <a:bodyPr/>
                    <a:lstStyle/>
                    <a:p>
                      <a:pPr algn="r" indent="0" marL="0">
                        <a:buNone/>
                      </a:pPr>
                      <a:r>
                        <a:rPr lang="en-US" sz="1600" b="1" dirty="0">
                          <a:solidFill>
                            <a:srgbClr val="FFFFFF"/>
                          </a:solidFill>
                        </a:rPr>
                        <a:t>× mil</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F3346"/>
                    </a:solidFill>
                  </a:tcPr>
                </a:tc>
                <a:tc>
                  <a:txBody>
                    <a:bodyPr/>
                    <a:lstStyle/>
                    <a:p>
                      <a:pPr algn="r" indent="0" marL="0">
                        <a:buNone/>
                      </a:pPr>
                      <a:r>
                        <a:rPr lang="en-US" sz="1600" b="1" dirty="0">
                          <a:solidFill>
                            <a:srgbClr val="FFFFFF"/>
                          </a:solidFill>
                        </a:rPr>
                        <a:t>Hz</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F3346"/>
                    </a:solidFill>
                  </a:tcPr>
                </a:tc>
              </a:tr>
              <a:tr h="502920">
                <a:tc>
                  <a:txBody>
                    <a:bodyPr/>
                    <a:lstStyle/>
                    <a:p>
                      <a:pPr algn="l" indent="0" marL="0">
                        <a:buNone/>
                      </a:pPr>
                      <a:r>
                        <a:rPr lang="en-US" sz="1600" dirty="0">
                          <a:solidFill>
                            <a:srgbClr val="17212B"/>
                          </a:solidFill>
                        </a:rPr>
                        <a:t>Kafes (FTF)</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7212B"/>
                          </a:solidFill>
                        </a:rPr>
                        <a:t>0,40</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7212B"/>
                          </a:solidFill>
                        </a:rPr>
                        <a:t>11,6</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7212B"/>
                          </a:solidFill>
                        </a:rPr>
                        <a:t>Dış bilezik (BPFO)</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c>
                  <a:txBody>
                    <a:bodyPr/>
                    <a:lstStyle/>
                    <a:p>
                      <a:pPr algn="r" indent="0" marL="0">
                        <a:buNone/>
                      </a:pPr>
                      <a:r>
                        <a:rPr lang="en-US" sz="1600" dirty="0">
                          <a:solidFill>
                            <a:srgbClr val="17212B"/>
                          </a:solidFill>
                        </a:rPr>
                        <a:t>3,58</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c>
                  <a:txBody>
                    <a:bodyPr/>
                    <a:lstStyle/>
                    <a:p>
                      <a:pPr algn="r" indent="0" marL="0">
                        <a:buNone/>
                      </a:pPr>
                      <a:r>
                        <a:rPr lang="en-US" sz="1600" dirty="0">
                          <a:solidFill>
                            <a:srgbClr val="17212B"/>
                          </a:solidFill>
                        </a:rPr>
                        <a:t>104,4</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r>
              <a:tr h="502920">
                <a:tc>
                  <a:txBody>
                    <a:bodyPr/>
                    <a:lstStyle/>
                    <a:p>
                      <a:pPr algn="l" indent="0" marL="0">
                        <a:buNone/>
                      </a:pPr>
                      <a:r>
                        <a:rPr lang="en-US" sz="1600" dirty="0">
                          <a:solidFill>
                            <a:srgbClr val="17212B"/>
                          </a:solidFill>
                        </a:rPr>
                        <a:t>Bilye (2×BSF)</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7212B"/>
                          </a:solidFill>
                        </a:rPr>
                        <a:t>4,71</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7212B"/>
                          </a:solidFill>
                        </a:rPr>
                        <a:t>137,3</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7212B"/>
                          </a:solidFill>
                        </a:rPr>
                        <a:t>İç bilezik (BPFI)</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c>
                  <a:txBody>
                    <a:bodyPr/>
                    <a:lstStyle/>
                    <a:p>
                      <a:pPr algn="r" indent="0" marL="0">
                        <a:buNone/>
                      </a:pPr>
                      <a:r>
                        <a:rPr lang="en-US" sz="1600" dirty="0">
                          <a:solidFill>
                            <a:srgbClr val="17212B"/>
                          </a:solidFill>
                        </a:rPr>
                        <a:t>5,42</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c>
                  <a:txBody>
                    <a:bodyPr/>
                    <a:lstStyle/>
                    <a:p>
                      <a:pPr algn="r" indent="0" marL="0">
                        <a:buNone/>
                      </a:pPr>
                      <a:r>
                        <a:rPr lang="en-US" sz="1600" dirty="0">
                          <a:solidFill>
                            <a:srgbClr val="17212B"/>
                          </a:solidFill>
                        </a:rPr>
                        <a:t>157,8</a:t>
                      </a:r>
                      <a:endParaRPr lang="en-US" sz="16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r>
            </a:tbl>
          </a:graphicData>
        </a:graphic>
      </p:graphicFrame>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GERÇEK VERI · CWRU, 48 KHZ</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Hasar, sinyalde düzenli darbeler olarak görünür</a:t>
            </a:r>
            <a:endParaRPr lang="en-US" sz="3200" dirty="0"/>
          </a:p>
        </p:txBody>
      </p:sp>
      <p:sp>
        <p:nvSpPr>
          <p:cNvPr id="5" name="Görsel çerçevesi"/>
          <p:cNvSpPr/>
          <p:nvPr/>
        </p:nvSpPr>
        <p:spPr>
          <a:xfrm>
            <a:off x="640080" y="1764792"/>
            <a:ext cx="7900416" cy="3648456"/>
          </a:xfrm>
          <a:prstGeom prst="roundRect">
            <a:avLst>
              <a:gd name="adj" fmla="val 1504"/>
            </a:avLst>
          </a:prstGeom>
          <a:solidFill>
            <a:srgbClr val="FFFFFF"/>
          </a:solidFill>
          <a:ln w="9525">
            <a:solidFill>
              <a:srgbClr val="D5DAE0"/>
            </a:solidFill>
            <a:prstDash val="solid"/>
          </a:ln>
        </p:spPr>
      </p:sp>
      <p:pic>
        <p:nvPicPr>
          <p:cNvPr id="6" name="Image 0" descr="Sağlam ve dış bilezik hasarlı rulmanın titreşim sinyalleri">    </p:cNvPr>
          <p:cNvPicPr>
            <a:picLocks noChangeAspect="1"/>
          </p:cNvPicPr>
          <p:nvPr/>
        </p:nvPicPr>
        <p:blipFill>
          <a:blip r:embed="rId1"/>
          <a:stretch>
            <a:fillRect/>
          </a:stretch>
        </p:blipFill>
        <p:spPr>
          <a:xfrm>
            <a:off x="749808" y="1874520"/>
            <a:ext cx="7680960" cy="3429000"/>
          </a:xfrm>
          <a:prstGeom prst="rect">
            <a:avLst/>
          </a:prstGeom>
        </p:spPr>
      </p:pic>
      <p:sp>
        <p:nvSpPr>
          <p:cNvPr id="7" name="Text 3"/>
          <p:cNvSpPr txBox="1"/>
          <p:nvPr/>
        </p:nvSpPr>
        <p:spPr>
          <a:xfrm>
            <a:off x="9052560" y="2194560"/>
            <a:ext cx="2651760" cy="731520"/>
          </a:xfrm>
          <a:prstGeom prst="rect">
            <a:avLst/>
          </a:prstGeom>
          <a:noFill/>
          <a:ln/>
        </p:spPr>
        <p:txBody>
          <a:bodyPr wrap="square" lIns="0" tIns="0" rIns="0" bIns="0" rtlCol="0" anchor="t"/>
          <a:lstStyle/>
          <a:p>
            <a:pPr indent="0" marL="0">
              <a:spcAft>
                <a:spcPts val="600"/>
              </a:spcAft>
              <a:buNone/>
            </a:pPr>
            <a:r>
              <a:rPr lang="en-US" sz="4000" b="1" dirty="0">
                <a:solidFill>
                  <a:schemeClr val="accent1"/>
                </a:solidFill>
                <a:latin typeface="Cambria" pitchFamily="34" charset="0"/>
                <a:ea typeface="Cambria" pitchFamily="34" charset="-122"/>
                <a:cs typeface="Cambria" pitchFamily="34" charset="-120"/>
              </a:rPr>
              <a:t>2,9 → 6,9</a:t>
            </a:r>
            <a:endParaRPr lang="en-US" sz="4000" dirty="0"/>
          </a:p>
        </p:txBody>
      </p:sp>
      <p:sp>
        <p:nvSpPr>
          <p:cNvPr id="8" name="Text 4"/>
          <p:cNvSpPr txBox="1"/>
          <p:nvPr/>
        </p:nvSpPr>
        <p:spPr>
          <a:xfrm>
            <a:off x="9052560" y="2926080"/>
            <a:ext cx="2651760" cy="45720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rPr>
              <a:t>kurtosis: sinyalin sivriliği</a:t>
            </a:r>
            <a:endParaRPr lang="en-US" sz="1400" dirty="0"/>
          </a:p>
        </p:txBody>
      </p:sp>
      <p:sp>
        <p:nvSpPr>
          <p:cNvPr id="9" name="Text 5"/>
          <p:cNvSpPr txBox="1"/>
          <p:nvPr/>
        </p:nvSpPr>
        <p:spPr>
          <a:xfrm>
            <a:off x="9052560" y="3749040"/>
            <a:ext cx="2651760" cy="731520"/>
          </a:xfrm>
          <a:prstGeom prst="rect">
            <a:avLst/>
          </a:prstGeom>
          <a:noFill/>
          <a:ln/>
        </p:spPr>
        <p:txBody>
          <a:bodyPr wrap="square" lIns="0" tIns="0" rIns="0" bIns="0" rtlCol="0" anchor="t"/>
          <a:lstStyle/>
          <a:p>
            <a:pPr indent="0" marL="0">
              <a:spcAft>
                <a:spcPts val="600"/>
              </a:spcAft>
              <a:buNone/>
            </a:pPr>
            <a:r>
              <a:rPr lang="en-US" sz="4000" b="1" dirty="0">
                <a:solidFill>
                  <a:schemeClr val="accent1"/>
                </a:solidFill>
                <a:latin typeface="Cambria" pitchFamily="34" charset="0"/>
                <a:ea typeface="Cambria" pitchFamily="34" charset="-122"/>
                <a:cs typeface="Cambria" pitchFamily="34" charset="-120"/>
              </a:rPr>
              <a:t>9,6 ms</a:t>
            </a:r>
            <a:endParaRPr lang="en-US" sz="4000" dirty="0"/>
          </a:p>
        </p:txBody>
      </p:sp>
      <p:sp>
        <p:nvSpPr>
          <p:cNvPr id="10" name="Text 6"/>
          <p:cNvSpPr txBox="1"/>
          <p:nvPr/>
        </p:nvSpPr>
        <p:spPr>
          <a:xfrm>
            <a:off x="9052560" y="4480560"/>
            <a:ext cx="2651760" cy="45720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rPr>
              <a:t>darbe aralığı = 1 / BPFO</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SINYAL IŞLEME</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Darbe rezonansı çınlatır; zarf analizi frekansı geri bulur</a:t>
            </a:r>
            <a:endParaRPr lang="en-US" sz="3200" dirty="0"/>
          </a:p>
        </p:txBody>
      </p:sp>
      <p:sp>
        <p:nvSpPr>
          <p:cNvPr id="5" name="Görsel çerçevesi"/>
          <p:cNvSpPr/>
          <p:nvPr/>
        </p:nvSpPr>
        <p:spPr>
          <a:xfrm>
            <a:off x="640080" y="1719072"/>
            <a:ext cx="10917936" cy="3958876"/>
          </a:xfrm>
          <a:prstGeom prst="roundRect">
            <a:avLst>
              <a:gd name="adj" fmla="val 1386"/>
            </a:avLst>
          </a:prstGeom>
          <a:solidFill>
            <a:srgbClr val="FFFFFF"/>
          </a:solidFill>
          <a:ln w="9525">
            <a:solidFill>
              <a:srgbClr val="D5DAE0"/>
            </a:solidFill>
            <a:prstDash val="solid"/>
          </a:ln>
        </p:spPr>
      </p:sp>
      <p:pic>
        <p:nvPicPr>
          <p:cNvPr id="6" name="Image 0" descr="Ham spektrum ve zarf spektrumu, 105 Hz'de BPFO tepesi">    </p:cNvPr>
          <p:cNvPicPr>
            <a:picLocks noChangeAspect="1"/>
          </p:cNvPicPr>
          <p:nvPr/>
        </p:nvPicPr>
        <p:blipFill>
          <a:blip r:embed="rId1"/>
          <a:stretch>
            <a:fillRect/>
          </a:stretch>
        </p:blipFill>
        <p:spPr>
          <a:xfrm>
            <a:off x="749808" y="1828800"/>
            <a:ext cx="10698480" cy="3739420"/>
          </a:xfrm>
          <a:prstGeom prst="rect">
            <a:avLst/>
          </a:prstGeom>
        </p:spPr>
      </p:pic>
      <p:sp>
        <p:nvSpPr>
          <p:cNvPr id="7" name="Text 3"/>
          <p:cNvSpPr txBox="1"/>
          <p:nvPr/>
        </p:nvSpPr>
        <p:spPr>
          <a:xfrm>
            <a:off x="640080" y="5852160"/>
            <a:ext cx="10881360" cy="45720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Rezonans bandı filtrelenir, zarf çıkarılır, zarfın spektrumu alınır: tepe </a:t>
            </a:r>
            <a:pPr indent="0" marL="0">
              <a:spcAft>
                <a:spcPts val="600"/>
              </a:spcAft>
              <a:buNone/>
            </a:pPr>
            <a:r>
              <a:rPr lang="en-US" sz="1600" b="1" dirty="0">
                <a:solidFill>
                  <a:schemeClr val="tx2"/>
                </a:solidFill>
              </a:rPr>
              <a:t>105,0 Hz</a:t>
            </a:r>
            <a:pPr indent="0" marL="0">
              <a:spcAft>
                <a:spcPts val="600"/>
              </a:spcAft>
              <a:buNone/>
            </a:pPr>
            <a:r>
              <a:rPr lang="en-US" sz="1600" dirty="0">
                <a:solidFill>
                  <a:schemeClr val="tx2"/>
                </a:solidFill>
              </a:rPr>
              <a:t>, hesap </a:t>
            </a:r>
            <a:pPr indent="0" marL="0">
              <a:spcAft>
                <a:spcPts val="600"/>
              </a:spcAft>
              <a:buNone/>
            </a:pPr>
            <a:r>
              <a:rPr lang="en-US" sz="1600" b="1" dirty="0">
                <a:solidFill>
                  <a:schemeClr val="tx2"/>
                </a:solidFill>
              </a:rPr>
              <a:t>104,4 Hz</a:t>
            </a:r>
            <a:pPr indent="0" marL="0">
              <a:spcAft>
                <a:spcPts val="600"/>
              </a:spcAft>
              <a:buNone/>
            </a:pPr>
            <a:r>
              <a:rPr lang="en-US" sz="1600" dirty="0">
                <a:solidFill>
                  <a:schemeClr val="tx2"/>
                </a:solidFill>
              </a:rPr>
              <a:t>.</a:t>
            </a:r>
            <a:endParaRPr lang="en-US" sz="16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MAKALENIN SORUSU</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Her probleme derin öğrenme mi gerekir?</a:t>
            </a:r>
            <a:endParaRPr lang="en-US" sz="3200" dirty="0"/>
          </a:p>
        </p:txBody>
      </p:sp>
      <p:sp>
        <p:nvSpPr>
          <p:cNvPr id="5" name="Derin öğrenme kartı"/>
          <p:cNvSpPr/>
          <p:nvPr/>
        </p:nvSpPr>
        <p:spPr>
          <a:xfrm>
            <a:off x="640080" y="1920240"/>
            <a:ext cx="5349240" cy="2926080"/>
          </a:xfrm>
          <a:prstGeom prst="roundRect">
            <a:avLst>
              <a:gd name="adj" fmla="val 2500"/>
            </a:avLst>
          </a:prstGeom>
          <a:solidFill>
            <a:schemeClr val="bg2"/>
          </a:solidFill>
          <a:ln w="12700">
            <a:solidFill>
              <a:schemeClr val="bg2"/>
            </a:solidFill>
            <a:prstDash val="solid"/>
          </a:ln>
        </p:spPr>
      </p:sp>
      <p:sp>
        <p:nvSpPr>
          <p:cNvPr id="6" name="Text 3"/>
          <p:cNvSpPr txBox="1"/>
          <p:nvPr/>
        </p:nvSpPr>
        <p:spPr>
          <a:xfrm>
            <a:off x="1005840" y="2240280"/>
            <a:ext cx="4572000" cy="457200"/>
          </a:xfrm>
          <a:prstGeom prst="rect">
            <a:avLst/>
          </a:prstGeom>
          <a:noFill/>
          <a:ln/>
        </p:spPr>
        <p:txBody>
          <a:bodyPr wrap="square" lIns="0" tIns="0" rIns="0" bIns="0" rtlCol="0" anchor="t"/>
          <a:lstStyle/>
          <a:p>
            <a:pPr indent="0" marL="0">
              <a:spcAft>
                <a:spcPts val="600"/>
              </a:spcAft>
              <a:buNone/>
            </a:pPr>
            <a:r>
              <a:rPr lang="en-US" sz="2200" b="1" dirty="0">
                <a:solidFill>
                  <a:schemeClr val="tx1"/>
                </a:solidFill>
              </a:rPr>
              <a:t>Derin öğrenme (CNN)</a:t>
            </a:r>
            <a:endParaRPr lang="en-US" sz="2200" dirty="0"/>
          </a:p>
        </p:txBody>
      </p:sp>
      <p:sp>
        <p:nvSpPr>
          <p:cNvPr id="7" name="Text 4"/>
          <p:cNvSpPr txBox="1"/>
          <p:nvPr/>
        </p:nvSpPr>
        <p:spPr>
          <a:xfrm>
            <a:off x="1005840" y="2926080"/>
            <a:ext cx="4572000" cy="1828800"/>
          </a:xfrm>
          <a:prstGeom prst="rect">
            <a:avLst/>
          </a:prstGeom>
          <a:noFill/>
          <a:ln/>
        </p:spPr>
        <p:txBody>
          <a:bodyPr wrap="square" lIns="0" tIns="0" rIns="0" bIns="0" rtlCol="0" anchor="t"/>
          <a:lstStyle/>
          <a:p>
            <a:pPr indent="0" marL="0">
              <a:spcAft>
                <a:spcPts val="1400"/>
              </a:spcAft>
              <a:buNone/>
            </a:pPr>
            <a:r>
              <a:rPr lang="en-US" sz="1800" dirty="0">
                <a:solidFill>
                  <a:schemeClr val="tx2"/>
                </a:solidFill>
              </a:rPr>
              <a:t>Ham sinyali alır, özellikleri kendisi öğrenir. Alan bilgisi gerektirmez.</a:t>
            </a:r>
            <a:endParaRPr lang="en-US" sz="1800" dirty="0"/>
          </a:p>
          <a:p>
            <a:pPr indent="0" marL="0">
              <a:spcAft>
                <a:spcPts val="1400"/>
              </a:spcAft>
              <a:buNone/>
            </a:pPr>
            <a:r>
              <a:rPr lang="en-US" sz="1800" dirty="0">
                <a:solidFill>
                  <a:schemeClr val="tx2"/>
                </a:solidFill>
              </a:rPr>
              <a:t>Çok veri ister, eğitimi pahalıdır, kararı açıklanamaz.</a:t>
            </a:r>
            <a:endParaRPr lang="en-US" sz="1800" dirty="0"/>
          </a:p>
        </p:txBody>
      </p:sp>
      <p:sp>
        <p:nvSpPr>
          <p:cNvPr id="8" name="Özellik mühendisliği kartı"/>
          <p:cNvSpPr/>
          <p:nvPr/>
        </p:nvSpPr>
        <p:spPr>
          <a:xfrm>
            <a:off x="6199632" y="1920240"/>
            <a:ext cx="5349240" cy="2926080"/>
          </a:xfrm>
          <a:prstGeom prst="roundRect">
            <a:avLst>
              <a:gd name="adj" fmla="val 2500"/>
            </a:avLst>
          </a:prstGeom>
          <a:solidFill>
            <a:schemeClr val="tx2"/>
          </a:solidFill>
          <a:ln w="12700">
            <a:solidFill>
              <a:schemeClr val="tx2"/>
            </a:solidFill>
            <a:prstDash val="solid"/>
          </a:ln>
        </p:spPr>
      </p:sp>
      <p:sp>
        <p:nvSpPr>
          <p:cNvPr id="9" name="Text 6"/>
          <p:cNvSpPr txBox="1"/>
          <p:nvPr/>
        </p:nvSpPr>
        <p:spPr>
          <a:xfrm>
            <a:off x="6565392" y="2240280"/>
            <a:ext cx="4663440" cy="457200"/>
          </a:xfrm>
          <a:prstGeom prst="rect">
            <a:avLst/>
          </a:prstGeom>
          <a:noFill/>
          <a:ln/>
        </p:spPr>
        <p:txBody>
          <a:bodyPr wrap="square" lIns="0" tIns="0" rIns="0" bIns="0" rtlCol="0" anchor="t"/>
          <a:lstStyle/>
          <a:p>
            <a:pPr indent="0" marL="0">
              <a:spcAft>
                <a:spcPts val="600"/>
              </a:spcAft>
              <a:buNone/>
            </a:pPr>
            <a:r>
              <a:rPr lang="en-US" sz="2200" b="1" dirty="0">
                <a:solidFill>
                  <a:schemeClr val="bg1"/>
                </a:solidFill>
              </a:rPr>
              <a:t>Özellik mühendisliği + Random Forest</a:t>
            </a:r>
            <a:endParaRPr lang="en-US" sz="2200" dirty="0"/>
          </a:p>
        </p:txBody>
      </p:sp>
      <p:sp>
        <p:nvSpPr>
          <p:cNvPr id="10" name="Text 7"/>
          <p:cNvSpPr txBox="1"/>
          <p:nvPr/>
        </p:nvSpPr>
        <p:spPr>
          <a:xfrm>
            <a:off x="6565392" y="2926080"/>
            <a:ext cx="4663440" cy="1828800"/>
          </a:xfrm>
          <a:prstGeom prst="rect">
            <a:avLst/>
          </a:prstGeom>
          <a:noFill/>
          <a:ln/>
        </p:spPr>
        <p:txBody>
          <a:bodyPr wrap="square" lIns="0" tIns="0" rIns="0" bIns="0" rtlCol="0" anchor="t"/>
          <a:lstStyle/>
          <a:p>
            <a:pPr indent="0" marL="0">
              <a:spcAft>
                <a:spcPts val="1400"/>
              </a:spcAft>
              <a:buNone/>
            </a:pPr>
            <a:r>
              <a:rPr lang="en-US" sz="1800" dirty="0">
                <a:solidFill>
                  <a:srgbClr val="D5DBE2"/>
                </a:solidFill>
              </a:rPr>
              <a:t>Uzman bilgisiyle sinyalden anlamlı sayılar çıkarılır, klasik bir model sınıflandırır.</a:t>
            </a:r>
            <a:endParaRPr lang="en-US" sz="1800" dirty="0"/>
          </a:p>
          <a:p>
            <a:pPr indent="0" marL="0">
              <a:spcAft>
                <a:spcPts val="1400"/>
              </a:spcAft>
              <a:buNone/>
            </a:pPr>
            <a:r>
              <a:rPr lang="en-US" sz="1800" dirty="0">
                <a:solidFill>
                  <a:srgbClr val="D5DBE2"/>
                </a:solidFill>
              </a:rPr>
              <a:t>Ucuz, hızlı ve her özelliğin fiziksel bir anlamı var.</a:t>
            </a:r>
            <a:endParaRPr lang="en-US" sz="18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YÖNTEM · KDD SÜRECI</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Sinyalden karara dört adım</a:t>
            </a:r>
            <a:endParaRPr lang="en-US" sz="3200" dirty="0"/>
          </a:p>
        </p:txBody>
      </p:sp>
      <p:sp>
        <p:nvSpPr>
          <p:cNvPr id="5" name="Adım 1"/>
          <p:cNvSpPr/>
          <p:nvPr/>
        </p:nvSpPr>
        <p:spPr>
          <a:xfrm>
            <a:off x="640080" y="1965960"/>
            <a:ext cx="2468880" cy="2560320"/>
          </a:xfrm>
          <a:prstGeom prst="roundRect">
            <a:avLst>
              <a:gd name="adj" fmla="val 2963"/>
            </a:avLst>
          </a:prstGeom>
          <a:solidFill>
            <a:schemeClr val="bg2"/>
          </a:solidFill>
          <a:ln w="12700">
            <a:solidFill>
              <a:schemeClr val="bg2"/>
            </a:solidFill>
            <a:prstDash val="solid"/>
          </a:ln>
        </p:spPr>
      </p:sp>
      <p:sp>
        <p:nvSpPr>
          <p:cNvPr id="6" name="Numara 1"/>
          <p:cNvSpPr/>
          <p:nvPr/>
        </p:nvSpPr>
        <p:spPr>
          <a:xfrm>
            <a:off x="914400" y="2194560"/>
            <a:ext cx="548640" cy="548640"/>
          </a:xfrm>
          <a:prstGeom prst="ellipse">
            <a:avLst/>
          </a:prstGeom>
          <a:solidFill>
            <a:schemeClr val="accent2"/>
          </a:solidFill>
          <a:ln w="12700">
            <a:solidFill>
              <a:schemeClr val="accent2"/>
            </a:solidFill>
            <a:prstDash val="solid"/>
          </a:ln>
        </p:spPr>
      </p:sp>
      <p:sp>
        <p:nvSpPr>
          <p:cNvPr id="7" name="Text 4"/>
          <p:cNvSpPr txBox="1"/>
          <p:nvPr/>
        </p:nvSpPr>
        <p:spPr>
          <a:xfrm>
            <a:off x="914400" y="219456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1</a:t>
            </a:r>
            <a:endParaRPr lang="en-US" sz="1800" dirty="0"/>
          </a:p>
        </p:txBody>
      </p:sp>
      <p:sp>
        <p:nvSpPr>
          <p:cNvPr id="8" name="Text 5"/>
          <p:cNvSpPr txBox="1"/>
          <p:nvPr/>
        </p:nvSpPr>
        <p:spPr>
          <a:xfrm>
            <a:off x="1600200" y="2331720"/>
            <a:ext cx="1371600" cy="320040"/>
          </a:xfrm>
          <a:prstGeom prst="rect">
            <a:avLst/>
          </a:prstGeom>
          <a:noFill/>
          <a:ln/>
        </p:spPr>
        <p:txBody>
          <a:bodyPr wrap="square" lIns="0" tIns="0" rIns="0" bIns="0" rtlCol="0" anchor="t"/>
          <a:lstStyle/>
          <a:p>
            <a:pPr indent="0" marL="0">
              <a:spcAft>
                <a:spcPts val="600"/>
              </a:spcAft>
              <a:buNone/>
            </a:pPr>
            <a:r>
              <a:rPr lang="en-US" sz="1200" b="1" dirty="0">
                <a:solidFill>
                  <a:schemeClr val="accent5"/>
                </a:solidFill>
              </a:rPr>
              <a:t>VERI</a:t>
            </a:r>
            <a:endParaRPr lang="en-US" sz="1200" dirty="0"/>
          </a:p>
        </p:txBody>
      </p:sp>
      <p:sp>
        <p:nvSpPr>
          <p:cNvPr id="9" name="Text 6"/>
          <p:cNvSpPr txBox="1"/>
          <p:nvPr/>
        </p:nvSpPr>
        <p:spPr>
          <a:xfrm>
            <a:off x="914400" y="2971800"/>
            <a:ext cx="2011680" cy="45720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CWRU, 2 hp</a:t>
            </a:r>
            <a:endParaRPr lang="en-US" sz="1900" dirty="0"/>
          </a:p>
        </p:txBody>
      </p:sp>
      <p:sp>
        <p:nvSpPr>
          <p:cNvPr id="10" name="Text 7"/>
          <p:cNvSpPr txBox="1"/>
          <p:nvPr/>
        </p:nvSpPr>
        <p:spPr>
          <a:xfrm>
            <a:off x="914400" y="3520440"/>
            <a:ext cx="2011680" cy="914400"/>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10 sınıf: sağlam + 3 konum × 3 hata boyutu</a:t>
            </a:r>
            <a:endParaRPr lang="en-US" sz="1500" dirty="0"/>
          </a:p>
        </p:txBody>
      </p:sp>
      <p:sp>
        <p:nvSpPr>
          <p:cNvPr id="11" name="Ok 1"/>
          <p:cNvSpPr/>
          <p:nvPr/>
        </p:nvSpPr>
        <p:spPr>
          <a:xfrm>
            <a:off x="3163824" y="3246120"/>
            <a:ext cx="256032" cy="237744"/>
          </a:xfrm>
          <a:prstGeom prst="rightArrow">
            <a:avLst/>
          </a:prstGeom>
          <a:solidFill>
            <a:srgbClr val="9AA3AD"/>
          </a:solidFill>
          <a:ln w="12700">
            <a:solidFill>
              <a:srgbClr val="9AA3AD"/>
            </a:solidFill>
            <a:prstDash val="solid"/>
          </a:ln>
        </p:spPr>
      </p:sp>
      <p:sp>
        <p:nvSpPr>
          <p:cNvPr id="12" name="Adım 2"/>
          <p:cNvSpPr/>
          <p:nvPr/>
        </p:nvSpPr>
        <p:spPr>
          <a:xfrm>
            <a:off x="3474720" y="1965960"/>
            <a:ext cx="2468880" cy="2560320"/>
          </a:xfrm>
          <a:prstGeom prst="roundRect">
            <a:avLst>
              <a:gd name="adj" fmla="val 2963"/>
            </a:avLst>
          </a:prstGeom>
          <a:solidFill>
            <a:schemeClr val="bg2"/>
          </a:solidFill>
          <a:ln w="12700">
            <a:solidFill>
              <a:schemeClr val="bg2"/>
            </a:solidFill>
            <a:prstDash val="solid"/>
          </a:ln>
        </p:spPr>
      </p:sp>
      <p:sp>
        <p:nvSpPr>
          <p:cNvPr id="13" name="Numara 2"/>
          <p:cNvSpPr/>
          <p:nvPr/>
        </p:nvSpPr>
        <p:spPr>
          <a:xfrm>
            <a:off x="3749040" y="2194560"/>
            <a:ext cx="548640" cy="548640"/>
          </a:xfrm>
          <a:prstGeom prst="ellipse">
            <a:avLst/>
          </a:prstGeom>
          <a:solidFill>
            <a:schemeClr val="accent2"/>
          </a:solidFill>
          <a:ln w="12700">
            <a:solidFill>
              <a:schemeClr val="accent2"/>
            </a:solidFill>
            <a:prstDash val="solid"/>
          </a:ln>
        </p:spPr>
      </p:sp>
      <p:sp>
        <p:nvSpPr>
          <p:cNvPr id="14" name="Text 11"/>
          <p:cNvSpPr txBox="1"/>
          <p:nvPr/>
        </p:nvSpPr>
        <p:spPr>
          <a:xfrm>
            <a:off x="3749040" y="219456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2</a:t>
            </a:r>
            <a:endParaRPr lang="en-US" sz="1800" dirty="0"/>
          </a:p>
        </p:txBody>
      </p:sp>
      <p:sp>
        <p:nvSpPr>
          <p:cNvPr id="15" name="Text 12"/>
          <p:cNvSpPr txBox="1"/>
          <p:nvPr/>
        </p:nvSpPr>
        <p:spPr>
          <a:xfrm>
            <a:off x="4434840" y="2331720"/>
            <a:ext cx="1371600" cy="320040"/>
          </a:xfrm>
          <a:prstGeom prst="rect">
            <a:avLst/>
          </a:prstGeom>
          <a:noFill/>
          <a:ln/>
        </p:spPr>
        <p:txBody>
          <a:bodyPr wrap="square" lIns="0" tIns="0" rIns="0" bIns="0" rtlCol="0" anchor="t"/>
          <a:lstStyle/>
          <a:p>
            <a:pPr indent="0" marL="0">
              <a:spcAft>
                <a:spcPts val="600"/>
              </a:spcAft>
              <a:buNone/>
            </a:pPr>
            <a:r>
              <a:rPr lang="en-US" sz="1200" b="1" dirty="0">
                <a:solidFill>
                  <a:schemeClr val="accent5"/>
                </a:solidFill>
              </a:rPr>
              <a:t>PENCERE</a:t>
            </a:r>
            <a:endParaRPr lang="en-US" sz="1200" dirty="0"/>
          </a:p>
        </p:txBody>
      </p:sp>
      <p:sp>
        <p:nvSpPr>
          <p:cNvPr id="16" name="Text 13"/>
          <p:cNvSpPr txBox="1"/>
          <p:nvPr/>
        </p:nvSpPr>
        <p:spPr>
          <a:xfrm>
            <a:off x="3749040" y="2971800"/>
            <a:ext cx="2011680" cy="45720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1670 örnek</a:t>
            </a:r>
            <a:endParaRPr lang="en-US" sz="1900" dirty="0"/>
          </a:p>
        </p:txBody>
      </p:sp>
      <p:sp>
        <p:nvSpPr>
          <p:cNvPr id="17" name="Text 14"/>
          <p:cNvSpPr txBox="1"/>
          <p:nvPr/>
        </p:nvSpPr>
        <p:spPr>
          <a:xfrm>
            <a:off x="3749040" y="3520440"/>
            <a:ext cx="2011680" cy="914400"/>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34,8 ms ≈ 1 mil turu; sınıf başına 280 pencere</a:t>
            </a:r>
            <a:endParaRPr lang="en-US" sz="1500" dirty="0"/>
          </a:p>
        </p:txBody>
      </p:sp>
      <p:sp>
        <p:nvSpPr>
          <p:cNvPr id="18" name="Ok 2"/>
          <p:cNvSpPr/>
          <p:nvPr/>
        </p:nvSpPr>
        <p:spPr>
          <a:xfrm>
            <a:off x="5998464" y="3246120"/>
            <a:ext cx="256032" cy="237744"/>
          </a:xfrm>
          <a:prstGeom prst="rightArrow">
            <a:avLst/>
          </a:prstGeom>
          <a:solidFill>
            <a:srgbClr val="9AA3AD"/>
          </a:solidFill>
          <a:ln w="12700">
            <a:solidFill>
              <a:srgbClr val="9AA3AD"/>
            </a:solidFill>
            <a:prstDash val="solid"/>
          </a:ln>
        </p:spPr>
      </p:sp>
      <p:sp>
        <p:nvSpPr>
          <p:cNvPr id="19" name="Adım 3"/>
          <p:cNvSpPr/>
          <p:nvPr/>
        </p:nvSpPr>
        <p:spPr>
          <a:xfrm>
            <a:off x="6309360" y="1965960"/>
            <a:ext cx="2468880" cy="2560320"/>
          </a:xfrm>
          <a:prstGeom prst="roundRect">
            <a:avLst>
              <a:gd name="adj" fmla="val 2963"/>
            </a:avLst>
          </a:prstGeom>
          <a:solidFill>
            <a:schemeClr val="bg2"/>
          </a:solidFill>
          <a:ln w="12700">
            <a:solidFill>
              <a:schemeClr val="bg2"/>
            </a:solidFill>
            <a:prstDash val="solid"/>
          </a:ln>
        </p:spPr>
      </p:sp>
      <p:sp>
        <p:nvSpPr>
          <p:cNvPr id="20" name="Numara 3"/>
          <p:cNvSpPr/>
          <p:nvPr/>
        </p:nvSpPr>
        <p:spPr>
          <a:xfrm>
            <a:off x="6583680" y="2194560"/>
            <a:ext cx="548640" cy="548640"/>
          </a:xfrm>
          <a:prstGeom prst="ellipse">
            <a:avLst/>
          </a:prstGeom>
          <a:solidFill>
            <a:schemeClr val="accent1"/>
          </a:solidFill>
          <a:ln w="12700">
            <a:solidFill>
              <a:schemeClr val="accent1"/>
            </a:solidFill>
            <a:prstDash val="solid"/>
          </a:ln>
        </p:spPr>
      </p:sp>
      <p:sp>
        <p:nvSpPr>
          <p:cNvPr id="21" name="Text 18"/>
          <p:cNvSpPr txBox="1"/>
          <p:nvPr/>
        </p:nvSpPr>
        <p:spPr>
          <a:xfrm>
            <a:off x="6583680" y="219456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3</a:t>
            </a:r>
            <a:endParaRPr lang="en-US" sz="1800" dirty="0"/>
          </a:p>
        </p:txBody>
      </p:sp>
      <p:sp>
        <p:nvSpPr>
          <p:cNvPr id="22" name="Text 19"/>
          <p:cNvSpPr txBox="1"/>
          <p:nvPr/>
        </p:nvSpPr>
        <p:spPr>
          <a:xfrm>
            <a:off x="7269480" y="2331720"/>
            <a:ext cx="1371600" cy="320040"/>
          </a:xfrm>
          <a:prstGeom prst="rect">
            <a:avLst/>
          </a:prstGeom>
          <a:noFill/>
          <a:ln/>
        </p:spPr>
        <p:txBody>
          <a:bodyPr wrap="square" lIns="0" tIns="0" rIns="0" bIns="0" rtlCol="0" anchor="t"/>
          <a:lstStyle/>
          <a:p>
            <a:pPr indent="0" marL="0">
              <a:spcAft>
                <a:spcPts val="600"/>
              </a:spcAft>
              <a:buNone/>
            </a:pPr>
            <a:r>
              <a:rPr lang="en-US" sz="1200" b="1" dirty="0">
                <a:solidFill>
                  <a:schemeClr val="accent5"/>
                </a:solidFill>
              </a:rPr>
              <a:t>ÖZELLIK</a:t>
            </a:r>
            <a:endParaRPr lang="en-US" sz="1200" dirty="0"/>
          </a:p>
        </p:txBody>
      </p:sp>
      <p:sp>
        <p:nvSpPr>
          <p:cNvPr id="23" name="Text 20"/>
          <p:cNvSpPr txBox="1"/>
          <p:nvPr/>
        </p:nvSpPr>
        <p:spPr>
          <a:xfrm>
            <a:off x="6583680" y="2971800"/>
            <a:ext cx="2011680" cy="45720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19 set</a:t>
            </a:r>
            <a:endParaRPr lang="en-US" sz="1900" dirty="0"/>
          </a:p>
        </p:txBody>
      </p:sp>
      <p:sp>
        <p:nvSpPr>
          <p:cNvPr id="24" name="Text 21"/>
          <p:cNvSpPr txBox="1"/>
          <p:nvPr/>
        </p:nvSpPr>
        <p:spPr>
          <a:xfrm>
            <a:off x="6583680" y="3520440"/>
            <a:ext cx="2011680" cy="914400"/>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42 formül × zarf, EMD, wavelet, frekans bantları</a:t>
            </a:r>
            <a:endParaRPr lang="en-US" sz="1500" dirty="0"/>
          </a:p>
        </p:txBody>
      </p:sp>
      <p:sp>
        <p:nvSpPr>
          <p:cNvPr id="25" name="Ok 3"/>
          <p:cNvSpPr/>
          <p:nvPr/>
        </p:nvSpPr>
        <p:spPr>
          <a:xfrm>
            <a:off x="8833104" y="3246120"/>
            <a:ext cx="256032" cy="237744"/>
          </a:xfrm>
          <a:prstGeom prst="rightArrow">
            <a:avLst/>
          </a:prstGeom>
          <a:solidFill>
            <a:srgbClr val="9AA3AD"/>
          </a:solidFill>
          <a:ln w="12700">
            <a:solidFill>
              <a:srgbClr val="9AA3AD"/>
            </a:solidFill>
            <a:prstDash val="solid"/>
          </a:ln>
        </p:spPr>
      </p:sp>
      <p:sp>
        <p:nvSpPr>
          <p:cNvPr id="26" name="Adım 4"/>
          <p:cNvSpPr/>
          <p:nvPr/>
        </p:nvSpPr>
        <p:spPr>
          <a:xfrm>
            <a:off x="9144000" y="1965960"/>
            <a:ext cx="2468880" cy="2560320"/>
          </a:xfrm>
          <a:prstGeom prst="roundRect">
            <a:avLst>
              <a:gd name="adj" fmla="val 2963"/>
            </a:avLst>
          </a:prstGeom>
          <a:solidFill>
            <a:schemeClr val="bg2"/>
          </a:solidFill>
          <a:ln w="12700">
            <a:solidFill>
              <a:schemeClr val="bg2"/>
            </a:solidFill>
            <a:prstDash val="solid"/>
          </a:ln>
        </p:spPr>
      </p:sp>
      <p:sp>
        <p:nvSpPr>
          <p:cNvPr id="27" name="Numara 4"/>
          <p:cNvSpPr/>
          <p:nvPr/>
        </p:nvSpPr>
        <p:spPr>
          <a:xfrm>
            <a:off x="9418320" y="2194560"/>
            <a:ext cx="548640" cy="548640"/>
          </a:xfrm>
          <a:prstGeom prst="ellipse">
            <a:avLst/>
          </a:prstGeom>
          <a:solidFill>
            <a:schemeClr val="accent3"/>
          </a:solidFill>
          <a:ln w="12700">
            <a:solidFill>
              <a:schemeClr val="accent3"/>
            </a:solidFill>
            <a:prstDash val="solid"/>
          </a:ln>
        </p:spPr>
      </p:sp>
      <p:sp>
        <p:nvSpPr>
          <p:cNvPr id="28" name="Text 25"/>
          <p:cNvSpPr txBox="1"/>
          <p:nvPr/>
        </p:nvSpPr>
        <p:spPr>
          <a:xfrm>
            <a:off x="9418320" y="219456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4</a:t>
            </a:r>
            <a:endParaRPr lang="en-US" sz="1800" dirty="0"/>
          </a:p>
        </p:txBody>
      </p:sp>
      <p:sp>
        <p:nvSpPr>
          <p:cNvPr id="29" name="Text 26"/>
          <p:cNvSpPr txBox="1"/>
          <p:nvPr/>
        </p:nvSpPr>
        <p:spPr>
          <a:xfrm>
            <a:off x="10104120" y="2331720"/>
            <a:ext cx="1371600" cy="320040"/>
          </a:xfrm>
          <a:prstGeom prst="rect">
            <a:avLst/>
          </a:prstGeom>
          <a:noFill/>
          <a:ln/>
        </p:spPr>
        <p:txBody>
          <a:bodyPr wrap="square" lIns="0" tIns="0" rIns="0" bIns="0" rtlCol="0" anchor="t"/>
          <a:lstStyle/>
          <a:p>
            <a:pPr indent="0" marL="0">
              <a:spcAft>
                <a:spcPts val="600"/>
              </a:spcAft>
              <a:buNone/>
            </a:pPr>
            <a:r>
              <a:rPr lang="en-US" sz="1200" b="1" dirty="0">
                <a:solidFill>
                  <a:schemeClr val="accent5"/>
                </a:solidFill>
              </a:rPr>
              <a:t>MODEL</a:t>
            </a:r>
            <a:endParaRPr lang="en-US" sz="1200" dirty="0"/>
          </a:p>
        </p:txBody>
      </p:sp>
      <p:sp>
        <p:nvSpPr>
          <p:cNvPr id="30" name="Text 27"/>
          <p:cNvSpPr txBox="1"/>
          <p:nvPr/>
        </p:nvSpPr>
        <p:spPr>
          <a:xfrm>
            <a:off x="9418320" y="2971800"/>
            <a:ext cx="2011680" cy="45720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Random Forest</a:t>
            </a:r>
            <a:endParaRPr lang="en-US" sz="1900" dirty="0"/>
          </a:p>
        </p:txBody>
      </p:sp>
      <p:sp>
        <p:nvSpPr>
          <p:cNvPr id="31" name="Text 28"/>
          <p:cNvSpPr txBox="1"/>
          <p:nvPr/>
        </p:nvSpPr>
        <p:spPr>
          <a:xfrm>
            <a:off x="9418320" y="3520440"/>
            <a:ext cx="2011680" cy="914400"/>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500 ağaç, derinlik 20; rastgele 5 katlı çapraz doğrulama</a:t>
            </a:r>
            <a:endParaRPr lang="en-US" sz="1500" dirty="0"/>
          </a:p>
        </p:txBody>
      </p:sp>
      <p:sp>
        <p:nvSpPr>
          <p:cNvPr id="32" name="Text 29"/>
          <p:cNvSpPr txBox="1"/>
          <p:nvPr/>
        </p:nvSpPr>
        <p:spPr>
          <a:xfrm>
            <a:off x="640080" y="4937760"/>
            <a:ext cx="10881360" cy="731520"/>
          </a:xfrm>
          <a:prstGeom prst="rect">
            <a:avLst/>
          </a:prstGeom>
          <a:noFill/>
          <a:ln/>
        </p:spPr>
        <p:txBody>
          <a:bodyPr wrap="square" lIns="0" tIns="0" rIns="0" bIns="0" rtlCol="0" anchor="t"/>
          <a:lstStyle/>
          <a:p>
            <a:pPr indent="0" marL="0">
              <a:spcAft>
                <a:spcPts val="600"/>
              </a:spcAft>
              <a:buNone/>
            </a:pPr>
            <a:r>
              <a:rPr lang="en-US" sz="1700" dirty="0">
                <a:solidFill>
                  <a:schemeClr val="tx2"/>
                </a:solidFill>
              </a:rPr>
              <a:t>Her set üç biçimde test edildi: tüm özellikler, en önemli 10 özellik (RF önemi), 10 PCA bileşeni. </a:t>
            </a:r>
            <a:pPr indent="0" marL="0">
              <a:spcAft>
                <a:spcPts val="600"/>
              </a:spcAft>
              <a:buNone/>
            </a:pPr>
            <a:r>
              <a:rPr lang="en-US" sz="1700" b="1" dirty="0">
                <a:solidFill>
                  <a:srgbClr val="B5461C"/>
                </a:solidFill>
              </a:rPr>
              <a:t>Not: doğrulama rastgele bölme ile yapılıyor.</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MAKALENIN BULGULARI</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Kazanan en basit yöntem: spektrumu bantlara bölmek</a:t>
            </a:r>
            <a:endParaRPr lang="en-US" sz="3200" dirty="0"/>
          </a:p>
        </p:txBody>
      </p:sp>
      <p:sp>
        <p:nvSpPr>
          <p:cNvPr id="5" name="Text 2"/>
          <p:cNvSpPr txBox="1"/>
          <p:nvPr/>
        </p:nvSpPr>
        <p:spPr>
          <a:xfrm>
            <a:off x="640080" y="1783080"/>
            <a:ext cx="3474720" cy="731520"/>
          </a:xfrm>
          <a:prstGeom prst="rect">
            <a:avLst/>
          </a:prstGeom>
          <a:noFill/>
          <a:ln/>
        </p:spPr>
        <p:txBody>
          <a:bodyPr wrap="square" lIns="0" tIns="0" rIns="0" bIns="0" rtlCol="0" anchor="t"/>
          <a:lstStyle/>
          <a:p>
            <a:pPr indent="0" marL="0">
              <a:spcAft>
                <a:spcPts val="600"/>
              </a:spcAft>
              <a:buNone/>
            </a:pPr>
            <a:r>
              <a:rPr lang="en-US" sz="4000" b="1" dirty="0">
                <a:solidFill>
                  <a:schemeClr val="accent1"/>
                </a:solidFill>
                <a:latin typeface="Cambria" pitchFamily="34" charset="0"/>
                <a:ea typeface="Cambria" pitchFamily="34" charset="-122"/>
                <a:cs typeface="Cambria" pitchFamily="34" charset="-120"/>
              </a:rPr>
              <a:t>&gt;%99,9</a:t>
            </a:r>
            <a:endParaRPr lang="en-US" sz="4000" dirty="0"/>
          </a:p>
        </p:txBody>
      </p:sp>
      <p:sp>
        <p:nvSpPr>
          <p:cNvPr id="6" name="Text 3"/>
          <p:cNvSpPr txBox="1"/>
          <p:nvPr/>
        </p:nvSpPr>
        <p:spPr>
          <a:xfrm>
            <a:off x="640080" y="2514600"/>
            <a:ext cx="3474720" cy="45720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rPr>
              <a:t>frekans bandı özellikleri</a:t>
            </a:r>
            <a:endParaRPr lang="en-US" sz="1400" dirty="0"/>
          </a:p>
        </p:txBody>
      </p:sp>
      <p:sp>
        <p:nvSpPr>
          <p:cNvPr id="7" name="Text 4"/>
          <p:cNvSpPr txBox="1"/>
          <p:nvPr/>
        </p:nvSpPr>
        <p:spPr>
          <a:xfrm>
            <a:off x="4343400" y="1783080"/>
            <a:ext cx="3474720" cy="731520"/>
          </a:xfrm>
          <a:prstGeom prst="rect">
            <a:avLst/>
          </a:prstGeom>
          <a:noFill/>
          <a:ln/>
        </p:spPr>
        <p:txBody>
          <a:bodyPr wrap="square" lIns="0" tIns="0" rIns="0" bIns="0" rtlCol="0" anchor="t"/>
          <a:lstStyle/>
          <a:p>
            <a:pPr indent="0" marL="0">
              <a:spcAft>
                <a:spcPts val="600"/>
              </a:spcAft>
              <a:buNone/>
            </a:pPr>
            <a:r>
              <a:rPr lang="en-US" sz="4000" b="1" dirty="0">
                <a:solidFill>
                  <a:schemeClr val="tx1"/>
                </a:solidFill>
                <a:latin typeface="Cambria" pitchFamily="34" charset="0"/>
                <a:ea typeface="Cambria" pitchFamily="34" charset="-122"/>
                <a:cs typeface="Cambria" pitchFamily="34" charset="-120"/>
              </a:rPr>
              <a:t>%98,5</a:t>
            </a:r>
            <a:endParaRPr lang="en-US" sz="4000" dirty="0"/>
          </a:p>
        </p:txBody>
      </p:sp>
      <p:sp>
        <p:nvSpPr>
          <p:cNvPr id="8" name="Text 5"/>
          <p:cNvSpPr txBox="1"/>
          <p:nvPr/>
        </p:nvSpPr>
        <p:spPr>
          <a:xfrm>
            <a:off x="4343400" y="2514600"/>
            <a:ext cx="3474720" cy="45720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rPr>
              <a:t>aynı veride derin CNN</a:t>
            </a:r>
            <a:endParaRPr lang="en-US" sz="1400" dirty="0"/>
          </a:p>
        </p:txBody>
      </p:sp>
      <p:sp>
        <p:nvSpPr>
          <p:cNvPr id="9" name="Text 6"/>
          <p:cNvSpPr txBox="1"/>
          <p:nvPr/>
        </p:nvSpPr>
        <p:spPr>
          <a:xfrm>
            <a:off x="8046720" y="1783080"/>
            <a:ext cx="3474720" cy="731520"/>
          </a:xfrm>
          <a:prstGeom prst="rect">
            <a:avLst/>
          </a:prstGeom>
          <a:noFill/>
          <a:ln/>
        </p:spPr>
        <p:txBody>
          <a:bodyPr wrap="square" lIns="0" tIns="0" rIns="0" bIns="0" rtlCol="0" anchor="t"/>
          <a:lstStyle/>
          <a:p>
            <a:pPr indent="0" marL="0">
              <a:spcAft>
                <a:spcPts val="600"/>
              </a:spcAft>
              <a:buNone/>
            </a:pPr>
            <a:r>
              <a:rPr lang="en-US" sz="4000" b="1" dirty="0">
                <a:solidFill>
                  <a:schemeClr val="accent3"/>
                </a:solidFill>
                <a:latin typeface="Cambria" pitchFamily="34" charset="0"/>
                <a:ea typeface="Cambria" pitchFamily="34" charset="-122"/>
                <a:cs typeface="Cambria" pitchFamily="34" charset="-120"/>
              </a:rPr>
              <a:t>~1 sn</a:t>
            </a:r>
            <a:endParaRPr lang="en-US" sz="4000" dirty="0"/>
          </a:p>
        </p:txBody>
      </p:sp>
      <p:sp>
        <p:nvSpPr>
          <p:cNvPr id="10" name="Text 7"/>
          <p:cNvSpPr txBox="1"/>
          <p:nvPr/>
        </p:nvSpPr>
        <p:spPr>
          <a:xfrm>
            <a:off x="8046720" y="2514600"/>
            <a:ext cx="3474720" cy="45720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rPr>
              <a:t>Random Forest eğitim süresi</a:t>
            </a:r>
            <a:endParaRPr lang="en-US" sz="1400" dirty="0"/>
          </a:p>
        </p:txBody>
      </p:sp>
      <p:sp>
        <p:nvSpPr>
          <p:cNvPr id="11" name="Görsel çerçevesi"/>
          <p:cNvSpPr/>
          <p:nvPr/>
        </p:nvSpPr>
        <p:spPr>
          <a:xfrm>
            <a:off x="640080" y="3227832"/>
            <a:ext cx="10917936" cy="3083842"/>
          </a:xfrm>
          <a:prstGeom prst="roundRect">
            <a:avLst>
              <a:gd name="adj" fmla="val 1779"/>
            </a:avLst>
          </a:prstGeom>
          <a:solidFill>
            <a:srgbClr val="FFFFFF"/>
          </a:solidFill>
          <a:ln w="9525">
            <a:solidFill>
              <a:srgbClr val="D5DAE0"/>
            </a:solidFill>
            <a:prstDash val="solid"/>
          </a:ln>
        </p:spPr>
      </p:sp>
      <p:pic>
        <p:nvPicPr>
          <p:cNvPr id="12" name="Image 0" descr="Dört durum için 20 frekans bandının ortalama genliği">    </p:cNvPr>
          <p:cNvPicPr>
            <a:picLocks noChangeAspect="1"/>
          </p:cNvPicPr>
          <p:nvPr/>
        </p:nvPicPr>
        <p:blipFill>
          <a:blip r:embed="rId1"/>
          <a:stretch>
            <a:fillRect/>
          </a:stretch>
        </p:blipFill>
        <p:spPr>
          <a:xfrm>
            <a:off x="749808" y="3337560"/>
            <a:ext cx="10698480" cy="2864386"/>
          </a:xfrm>
          <a:prstGeom prst="rect">
            <a:avLst/>
          </a:prstGeom>
        </p:spPr>
      </p:pic>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KENDI DENEYIM · D1</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Önce makaleyi birebir tekrar ürettim</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6766560" cy="914400"/>
        </p:xfrm>
        <a:graphic>
          <a:graphicData uri="http://schemas.openxmlformats.org/drawingml/2006/table">
            <a:tbl>
              <a:tblPr/>
              <a:tblGrid>
                <a:gridCol w="2834640"/>
                <a:gridCol w="1965960"/>
                <a:gridCol w="1965960"/>
              </a:tblGrid>
              <a:tr h="685800">
                <a:tc>
                  <a:txBody>
                    <a:bodyPr/>
                    <a:lstStyle/>
                    <a:p>
                      <a:pPr algn="l" indent="0" marL="0">
                        <a:buNone/>
                      </a:pPr>
                      <a:r>
                        <a:rPr lang="en-US" sz="1700" b="1" dirty="0">
                          <a:solidFill>
                            <a:srgbClr val="FFFFFF"/>
                          </a:solidFill>
                        </a:rPr>
                        <a:t>Özellik seti</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F3346"/>
                    </a:solidFill>
                  </a:tcPr>
                </a:tc>
                <a:tc>
                  <a:txBody>
                    <a:bodyPr/>
                    <a:lstStyle/>
                    <a:p>
                      <a:pPr algn="r" indent="0" marL="0">
                        <a:buNone/>
                      </a:pPr>
                      <a:r>
                        <a:rPr lang="en-US" sz="1700" b="1" dirty="0">
                          <a:solidFill>
                            <a:srgbClr val="FFFFFF"/>
                          </a:solidFill>
                        </a:rPr>
                        <a:t>Benim sonucum</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F3346"/>
                    </a:solidFill>
                  </a:tcPr>
                </a:tc>
                <a:tc>
                  <a:txBody>
                    <a:bodyPr/>
                    <a:lstStyle/>
                    <a:p>
                      <a:pPr algn="r" indent="0" marL="0">
                        <a:buNone/>
                      </a:pPr>
                      <a:r>
                        <a:rPr lang="en-US" sz="1700" b="1" dirty="0">
                          <a:solidFill>
                            <a:srgbClr val="FFFFFF"/>
                          </a:solidFill>
                        </a:rPr>
                        <a:t>Makale</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F3346"/>
                    </a:solidFill>
                  </a:tcPr>
                </a:tc>
              </a:tr>
              <a:tr h="685800">
                <a:tc>
                  <a:txBody>
                    <a:bodyPr/>
                    <a:lstStyle/>
                    <a:p>
                      <a:pPr algn="l" indent="0" marL="0">
                        <a:buNone/>
                      </a:pPr>
                      <a:r>
                        <a:rPr lang="en-US" sz="1700" dirty="0">
                          <a:solidFill>
                            <a:srgbClr val="17212B"/>
                          </a:solidFill>
                        </a:rPr>
                        <a:t>FB_20_FD (280 özellik)</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17212B"/>
                          </a:solidFill>
                        </a:rPr>
                        <a:t>%99,94</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700" dirty="0">
                          <a:solidFill>
                            <a:srgbClr val="17212B"/>
                          </a:solidFill>
                        </a:rPr>
                        <a:t>&gt;%99,9</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685800">
                <a:tc>
                  <a:txBody>
                    <a:bodyPr/>
                    <a:lstStyle/>
                    <a:p>
                      <a:pPr algn="l" indent="0" marL="0">
                        <a:buNone/>
                      </a:pPr>
                      <a:r>
                        <a:rPr lang="en-US" sz="1700" dirty="0">
                          <a:solidFill>
                            <a:srgbClr val="17212B"/>
                          </a:solidFill>
                        </a:rPr>
                        <a:t>FB_20_FD-mean (20)</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c>
                  <a:txBody>
                    <a:bodyPr/>
                    <a:lstStyle/>
                    <a:p>
                      <a:pPr algn="r" indent="0" marL="0">
                        <a:buNone/>
                      </a:pPr>
                      <a:r>
                        <a:rPr lang="en-US" sz="1700" b="1" dirty="0">
                          <a:solidFill>
                            <a:srgbClr val="17212B"/>
                          </a:solidFill>
                        </a:rPr>
                        <a:t>%99,60</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c>
                  <a:txBody>
                    <a:bodyPr/>
                    <a:lstStyle/>
                    <a:p>
                      <a:pPr algn="r" indent="0" marL="0">
                        <a:buNone/>
                      </a:pPr>
                      <a:r>
                        <a:rPr lang="en-US" sz="1700" dirty="0">
                          <a:solidFill>
                            <a:srgbClr val="17212B"/>
                          </a:solidFill>
                        </a:rPr>
                        <a:t>~%99</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EEF1F4"/>
                    </a:solidFill>
                  </a:tcPr>
                </a:tc>
              </a:tr>
              <a:tr h="685800">
                <a:tc>
                  <a:txBody>
                    <a:bodyPr/>
                    <a:lstStyle/>
                    <a:p>
                      <a:pPr algn="l" indent="0" marL="0">
                        <a:buNone/>
                      </a:pPr>
                      <a:r>
                        <a:rPr lang="en-US" sz="1700" dirty="0">
                          <a:solidFill>
                            <a:srgbClr val="17212B"/>
                          </a:solidFill>
                        </a:rPr>
                        <a:t>RAW_Lei (25 istatistik)</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17212B"/>
                          </a:solidFill>
                        </a:rPr>
                        <a:t>%97,07</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algn="r" indent="0" marL="0">
                        <a:buNone/>
                      </a:pPr>
                      <a:r>
                        <a:rPr lang="en-US" sz="1700" dirty="0">
                          <a:solidFill>
                            <a:srgbClr val="17212B"/>
                          </a:solidFill>
                        </a:rPr>
                        <a:t>bantlardan düşük</a:t>
                      </a:r>
                      <a:endParaRPr lang="en-US" sz="1700" dirty="0"/>
                    </a:p>
                  </a:txBody>
                  <a:tcPr marL="137160" marR="137160" marT="54864" marB="54864">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
        <p:nvSpPr>
          <p:cNvPr id="6" name="Sonuç kartı"/>
          <p:cNvSpPr/>
          <p:nvPr/>
        </p:nvSpPr>
        <p:spPr>
          <a:xfrm>
            <a:off x="7863840" y="2011680"/>
            <a:ext cx="3685032" cy="2743200"/>
          </a:xfrm>
          <a:prstGeom prst="roundRect">
            <a:avLst>
              <a:gd name="adj" fmla="val 2667"/>
            </a:avLst>
          </a:prstGeom>
          <a:solidFill>
            <a:schemeClr val="bg2"/>
          </a:solidFill>
          <a:ln w="12700">
            <a:solidFill>
              <a:schemeClr val="bg2"/>
            </a:solidFill>
            <a:prstDash val="solid"/>
          </a:ln>
        </p:spPr>
      </p:sp>
      <p:sp>
        <p:nvSpPr>
          <p:cNvPr id="7" name="Text 3"/>
          <p:cNvSpPr txBox="1"/>
          <p:nvPr/>
        </p:nvSpPr>
        <p:spPr>
          <a:xfrm>
            <a:off x="8138160" y="2286000"/>
            <a:ext cx="3200400" cy="2286000"/>
          </a:xfrm>
          <a:prstGeom prst="rect">
            <a:avLst/>
          </a:prstGeom>
          <a:noFill/>
          <a:ln/>
        </p:spPr>
        <p:txBody>
          <a:bodyPr wrap="square" lIns="0" tIns="0" rIns="0" bIns="0" rtlCol="0" anchor="t"/>
          <a:lstStyle/>
          <a:p>
            <a:pPr indent="0" marL="0">
              <a:spcAft>
                <a:spcPts val="1400"/>
              </a:spcAft>
              <a:buNone/>
            </a:pPr>
            <a:r>
              <a:rPr lang="en-US" sz="1700" dirty="0">
                <a:solidFill>
                  <a:schemeClr val="tx2"/>
                </a:solidFill>
              </a:rPr>
              <a:t>Python, scikit-learn, aynı veri, aynı pencere, aynı model ve aynı doğrulama.</a:t>
            </a:r>
            <a:endParaRPr lang="en-US" sz="1700" dirty="0"/>
          </a:p>
          <a:p>
            <a:pPr indent="0" marL="0">
              <a:spcAft>
                <a:spcPts val="1400"/>
              </a:spcAft>
              <a:buNone/>
            </a:pPr>
            <a:r>
              <a:rPr lang="en-US" sz="1700" dirty="0">
                <a:solidFill>
                  <a:schemeClr val="tx2"/>
                </a:solidFill>
              </a:rPr>
              <a:t>Sonuçlar örtüşüyor: </a:t>
            </a:r>
            <a:pPr indent="0" marL="0">
              <a:spcAft>
                <a:spcPts val="1400"/>
              </a:spcAft>
              <a:buNone/>
            </a:pPr>
            <a:r>
              <a:rPr lang="en-US" sz="1700" b="1" dirty="0">
                <a:solidFill>
                  <a:schemeClr val="tx2"/>
                </a:solidFill>
              </a:rPr>
              <a:t>protokol doğru kuruldu</a:t>
            </a:r>
            <a:pPr indent="0" marL="0">
              <a:spcAft>
                <a:spcPts val="1400"/>
              </a:spcAft>
              <a:buNone/>
            </a:pPr>
            <a:r>
              <a:rPr lang="en-US" sz="1700" dirty="0">
                <a:solidFill>
                  <a:schemeClr val="tx2"/>
                </a:solidFill>
              </a:rPr>
              <a:t>, karşılaştırma adil.</a:t>
            </a:r>
            <a:endParaRPr lang="en-US" sz="1700" dirty="0"/>
          </a:p>
        </p:txBody>
      </p:sp>
      <p:sp>
        <p:nvSpPr>
          <p:cNvPr id="8" name="Text 4"/>
          <p:cNvSpPr txBox="1"/>
          <p:nvPr/>
        </p:nvSpPr>
        <p:spPr>
          <a:xfrm>
            <a:off x="640080" y="5074920"/>
            <a:ext cx="5486400" cy="731520"/>
          </a:xfrm>
          <a:prstGeom prst="rect">
            <a:avLst/>
          </a:prstGeom>
          <a:noFill/>
          <a:ln/>
        </p:spPr>
        <p:txBody>
          <a:bodyPr wrap="square" lIns="0" tIns="0" rIns="0" bIns="0" rtlCol="0" anchor="t"/>
          <a:lstStyle/>
          <a:p>
            <a:pPr indent="0" marL="0">
              <a:spcAft>
                <a:spcPts val="600"/>
              </a:spcAft>
              <a:buNone/>
            </a:pPr>
            <a:r>
              <a:rPr lang="en-US" sz="4000" b="1" dirty="0">
                <a:solidFill>
                  <a:schemeClr val="accent3"/>
                </a:solidFill>
                <a:latin typeface="Cambria" pitchFamily="34" charset="0"/>
                <a:ea typeface="Cambria" pitchFamily="34" charset="-122"/>
                <a:cs typeface="Cambria" pitchFamily="34" charset="-120"/>
              </a:rPr>
              <a:t>%99,94 ≈ &gt;%99,9</a:t>
            </a:r>
            <a:endParaRPr lang="en-US" sz="4000" dirty="0"/>
          </a:p>
        </p:txBody>
      </p:sp>
      <p:sp>
        <p:nvSpPr>
          <p:cNvPr id="9" name="Text 5"/>
          <p:cNvSpPr txBox="1"/>
          <p:nvPr/>
        </p:nvSpPr>
        <p:spPr>
          <a:xfrm>
            <a:off x="640080" y="5806440"/>
            <a:ext cx="5486400" cy="457200"/>
          </a:xfrm>
          <a:prstGeom prst="rect">
            <a:avLst/>
          </a:prstGeom>
          <a:noFill/>
          <a:ln/>
        </p:spPr>
        <p:txBody>
          <a:bodyPr wrap="square" lIns="0" tIns="0" rIns="0" bIns="0" rtlCol="0" anchor="t"/>
          <a:lstStyle/>
          <a:p>
            <a:pPr indent="0" marL="0">
              <a:spcAft>
                <a:spcPts val="600"/>
              </a:spcAft>
              <a:buNone/>
            </a:pPr>
            <a:r>
              <a:rPr lang="en-US" sz="1400" dirty="0">
                <a:solidFill>
                  <a:schemeClr val="accent5"/>
                </a:solidFill>
              </a:rPr>
              <a:t>makalenin en iyi sonucu doğrulandı</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22960" y="1737360"/>
            <a:ext cx="10515600" cy="365760"/>
          </a:xfrm>
          <a:prstGeom prst="rect">
            <a:avLst/>
          </a:prstGeom>
          <a:noFill/>
          <a:ln/>
        </p:spPr>
        <p:txBody>
          <a:bodyPr wrap="square" rtlCol="0"/>
          <a:lstStyle/>
          <a:p>
            <a:pPr indent="0" marL="0">
              <a:buNone/>
            </a:pPr>
            <a:r>
              <a:rPr lang="en-US" sz="1600" b="1" spc="300" kern="0" dirty="0">
                <a:solidFill>
                  <a:schemeClr val="tx1"/>
                </a:solidFill>
              </a:rPr>
              <a:t>AMA BIR SORUN VAR</a:t>
            </a:r>
            <a:endParaRPr lang="en-US" sz="1600" dirty="0"/>
          </a:p>
        </p:txBody>
      </p:sp>
      <p:sp>
        <p:nvSpPr>
          <p:cNvPr id="3" name="Text 0"/>
          <p:cNvSpPr/>
          <p:nvPr>
            <p:ph idx="101" type="title" hasCustomPrompt="1"/>
          </p:nvPr>
        </p:nvSpPr>
        <p:spPr>
          <a:xfrm>
            <a:off x="822960" y="2194560"/>
            <a:ext cx="10515600" cy="1828800"/>
          </a:xfrm>
          <a:prstGeom prst="rect">
            <a:avLst/>
          </a:prstGeom>
          <a:noFill/>
          <a:ln/>
        </p:spPr>
        <p:txBody>
          <a:bodyPr wrap="square" rtlCol="0" anchor="t"/>
          <a:lstStyle/>
          <a:p>
            <a:pPr algn="l" indent="0" marL="0">
              <a:buNone/>
            </a:pPr>
            <a:r>
              <a:rPr lang="en-US" sz="4800" b="1" dirty="0">
                <a:solidFill>
                  <a:schemeClr val="tx1"/>
                </a:solidFill>
              </a:rPr>
              <a:t>Model rulmanı mı tanıyor,</a:t>
            </a:r>
            <a:endParaRPr lang="en-US" sz="4800" dirty="0"/>
          </a:p>
          <a:p>
            <a:pPr algn="l" indent="0" marL="0">
              <a:buNone/>
            </a:pPr>
            <a:r>
              <a:rPr lang="en-US" sz="4800" b="1" dirty="0">
                <a:solidFill>
                  <a:schemeClr val="tx1"/>
                </a:solidFill>
              </a:rPr>
              <a:t>yoksa kaydı mı?</a:t>
            </a:r>
            <a:endParaRPr lang="en-US" sz="4800" dirty="0"/>
          </a:p>
        </p:txBody>
      </p:sp>
      <p:sp>
        <p:nvSpPr>
          <p:cNvPr id="5" name="Text 0"/>
          <p:cNvSpPr/>
          <p:nvPr>
            <p:ph idx="102" type="body" hasCustomPrompt="1"/>
          </p:nvPr>
        </p:nvSpPr>
        <p:spPr>
          <a:xfrm>
            <a:off x="822960" y="4114800"/>
            <a:ext cx="9601200" cy="822960"/>
          </a:xfrm>
          <a:prstGeom prst="rect">
            <a:avLst/>
          </a:prstGeom>
          <a:noFill/>
          <a:ln/>
        </p:spPr>
        <p:txBody>
          <a:bodyPr wrap="square" rtlCol="0" anchor="t"/>
          <a:lstStyle/>
          <a:p>
            <a:pPr indent="0" marL="0">
              <a:buNone/>
            </a:pPr>
            <a:r>
              <a:rPr lang="en-US" sz="2200" dirty="0">
                <a:solidFill>
                  <a:schemeClr val="tx1"/>
                </a:solidFill>
              </a:rPr>
              <a:t>Her sınıf tek bir kayıttan geliyor. O kaydın parçaları hem eğitimde hem testte.</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VERI SIZINTISI</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Aynı sınavın fotokopisi: yüksek not, öğrenme yok</a:t>
            </a:r>
            <a:endParaRPr lang="en-US" sz="3200" dirty="0"/>
          </a:p>
        </p:txBody>
      </p:sp>
      <p:sp>
        <p:nvSpPr>
          <p:cNvPr id="5" name="Görsel çerçevesi"/>
          <p:cNvSpPr/>
          <p:nvPr/>
        </p:nvSpPr>
        <p:spPr>
          <a:xfrm>
            <a:off x="640080" y="1719072"/>
            <a:ext cx="10917936" cy="3433178"/>
          </a:xfrm>
          <a:prstGeom prst="roundRect">
            <a:avLst>
              <a:gd name="adj" fmla="val 1598"/>
            </a:avLst>
          </a:prstGeom>
          <a:solidFill>
            <a:srgbClr val="FFFFFF"/>
          </a:solidFill>
          <a:ln w="9525">
            <a:solidFill>
              <a:srgbClr val="D5DAE0"/>
            </a:solidFill>
            <a:prstDash val="solid"/>
          </a:ln>
        </p:spPr>
      </p:sp>
      <p:pic>
        <p:nvPicPr>
          <p:cNvPr id="6" name="Image 0" descr="Rastgele bölme ile kayıt bazlı bölmenin karşılaştırması">    </p:cNvPr>
          <p:cNvPicPr>
            <a:picLocks noChangeAspect="1"/>
          </p:cNvPicPr>
          <p:nvPr/>
        </p:nvPicPr>
        <p:blipFill>
          <a:blip r:embed="rId1"/>
          <a:stretch>
            <a:fillRect/>
          </a:stretch>
        </p:blipFill>
        <p:spPr>
          <a:xfrm>
            <a:off x="749808" y="1828800"/>
            <a:ext cx="10698480" cy="3213722"/>
          </a:xfrm>
          <a:prstGeom prst="rect">
            <a:avLst/>
          </a:prstGeom>
        </p:spPr>
      </p:pic>
      <p:sp>
        <p:nvSpPr>
          <p:cNvPr id="7" name="Text 3"/>
          <p:cNvSpPr txBox="1"/>
          <p:nvPr/>
        </p:nvSpPr>
        <p:spPr>
          <a:xfrm>
            <a:off x="640080" y="5349240"/>
            <a:ext cx="5303520" cy="822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Makale: </a:t>
            </a:r>
            <a:pPr indent="0" marL="0">
              <a:spcAft>
                <a:spcPts val="600"/>
              </a:spcAft>
              <a:buNone/>
            </a:pPr>
            <a:r>
              <a:rPr lang="en-US" sz="1600" dirty="0">
                <a:solidFill>
                  <a:schemeClr val="tx2"/>
                </a:solidFill>
              </a:rPr>
              <a:t>pencereler rastgele dağıtılır. Model test edilen rulmanı eğitimde zaten görmüştür.</a:t>
            </a:r>
            <a:endParaRPr lang="en-US" sz="1600" dirty="0"/>
          </a:p>
        </p:txBody>
      </p:sp>
      <p:sp>
        <p:nvSpPr>
          <p:cNvPr id="8" name="Text 4"/>
          <p:cNvSpPr txBox="1"/>
          <p:nvPr/>
        </p:nvSpPr>
        <p:spPr>
          <a:xfrm>
            <a:off x="6263640" y="5349240"/>
            <a:ext cx="5303520" cy="82296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Önerilen: </a:t>
            </a:r>
            <a:pPr indent="0" marL="0">
              <a:spcAft>
                <a:spcPts val="600"/>
              </a:spcAft>
              <a:buNone/>
            </a:pPr>
            <a:r>
              <a:rPr lang="en-US" sz="1600" dirty="0">
                <a:solidFill>
                  <a:schemeClr val="tx2"/>
                </a:solidFill>
              </a:rPr>
              <a:t>bir hata boyutunun kaydı tümüyle teste ayrılır; model o rulmanı hiç görmez (Hendriks ve ark., 2022).</a:t>
            </a:r>
            <a:endParaRPr lang="en-US" sz="16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KENDI DENEYIM · D2</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Sızıntı kalkınca doğruluk %99,9'dan %64'e düşüyor</a:t>
            </a:r>
            <a:endParaRPr lang="en-US" sz="3200" dirty="0"/>
          </a:p>
        </p:txBody>
      </p:sp>
      <p:graphicFrame>
        <p:nvGraphicFramePr>
          <p:cNvPr id="5" name="Chart 0" descr=""/>
          <p:cNvGraphicFramePr/>
          <p:nvPr/>
        </p:nvGraphicFramePr>
        <p:xfrm>
          <a:off x="640080" y="1691640"/>
          <a:ext cx="74066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412480" y="2011680"/>
            <a:ext cx="3154680" cy="4023360"/>
          </a:xfrm>
          <a:prstGeom prst="rect">
            <a:avLst/>
          </a:prstGeom>
          <a:noFill/>
          <a:ln/>
        </p:spPr>
        <p:txBody>
          <a:bodyPr wrap="square" lIns="0" tIns="0" rIns="0" bIns="0" rtlCol="0" anchor="t"/>
          <a:lstStyle/>
          <a:p>
            <a:pPr indent="0" marL="0">
              <a:spcAft>
                <a:spcPts val="1600"/>
              </a:spcAft>
              <a:buNone/>
            </a:pPr>
            <a:r>
              <a:rPr lang="en-US" sz="1700" dirty="0">
                <a:solidFill>
                  <a:schemeClr val="tx2"/>
                </a:solidFill>
              </a:rPr>
              <a:t>Aynı özellikler, aynı model. Değişen tek şey </a:t>
            </a:r>
            <a:pPr indent="0" marL="0">
              <a:spcAft>
                <a:spcPts val="1600"/>
              </a:spcAft>
              <a:buNone/>
            </a:pPr>
            <a:r>
              <a:rPr lang="en-US" sz="1700" b="1" dirty="0">
                <a:solidFill>
                  <a:schemeClr val="tx2"/>
                </a:solidFill>
              </a:rPr>
              <a:t>değerlendirme biçimi.</a:t>
            </a:r>
            <a:endParaRPr lang="en-US" sz="1700" dirty="0"/>
          </a:p>
          <a:p>
            <a:pPr indent="0" marL="0">
              <a:spcAft>
                <a:spcPts val="1600"/>
              </a:spcAft>
              <a:buNone/>
            </a:pPr>
            <a:r>
              <a:rPr lang="en-US" sz="1700" dirty="0">
                <a:solidFill>
                  <a:schemeClr val="tx2"/>
                </a:solidFill>
              </a:rPr>
              <a:t>Görev 10 sınıftan 4'e indi, yani </a:t>
            </a:r>
            <a:pPr indent="0" marL="0">
              <a:spcAft>
                <a:spcPts val="1600"/>
              </a:spcAft>
              <a:buNone/>
            </a:pPr>
            <a:r>
              <a:rPr lang="en-US" sz="1700" b="1" dirty="0">
                <a:solidFill>
                  <a:schemeClr val="tx2"/>
                </a:solidFill>
              </a:rPr>
              <a:t>kolaylaştı</a:t>
            </a:r>
            <a:pPr indent="0" marL="0">
              <a:spcAft>
                <a:spcPts val="1600"/>
              </a:spcAft>
              <a:buNone/>
            </a:pPr>
            <a:r>
              <a:rPr lang="en-US" sz="1700" dirty="0">
                <a:solidFill>
                  <a:schemeClr val="tx2"/>
                </a:solidFill>
              </a:rPr>
              <a:t>. Yine de düştü.</a:t>
            </a:r>
            <a:endParaRPr lang="en-US" sz="1700" dirty="0"/>
          </a:p>
          <a:p>
            <a:pPr indent="0" marL="0">
              <a:spcAft>
                <a:spcPts val="1600"/>
              </a:spcAft>
              <a:buNone/>
            </a:pPr>
            <a:r>
              <a:rPr lang="en-US" sz="1700" dirty="0">
                <a:solidFill>
                  <a:schemeClr val="tx2"/>
                </a:solidFill>
              </a:rPr>
              <a:t>Bantlar istatistiklerden hâlâ iyi: makalenin </a:t>
            </a:r>
            <a:pPr indent="0" marL="0">
              <a:spcAft>
                <a:spcPts val="1600"/>
              </a:spcAft>
              <a:buNone/>
            </a:pPr>
            <a:r>
              <a:rPr lang="en-US" sz="1700" b="1" dirty="0">
                <a:solidFill>
                  <a:schemeClr val="tx2"/>
                </a:solidFill>
              </a:rPr>
              <a:t>göreli</a:t>
            </a:r>
            <a:pPr indent="0" marL="0">
              <a:spcAft>
                <a:spcPts val="1600"/>
              </a:spcAft>
              <a:buNone/>
            </a:pPr>
            <a:r>
              <a:rPr lang="en-US" sz="1700" dirty="0">
                <a:solidFill>
                  <a:schemeClr val="tx2"/>
                </a:solidFill>
              </a:rPr>
              <a:t> sonucu geçerli.</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KARIŞIKLIK MATRISI · FB_20_FD</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Arızayı buluyor, yerini bulamıyor</a:t>
            </a:r>
            <a:endParaRPr lang="en-US" sz="3200" dirty="0"/>
          </a:p>
        </p:txBody>
      </p:sp>
      <p:sp>
        <p:nvSpPr>
          <p:cNvPr id="5" name="Görsel çerçevesi"/>
          <p:cNvSpPr/>
          <p:nvPr/>
        </p:nvSpPr>
        <p:spPr>
          <a:xfrm>
            <a:off x="640080" y="1673352"/>
            <a:ext cx="5065776" cy="4500657"/>
          </a:xfrm>
          <a:prstGeom prst="roundRect">
            <a:avLst>
              <a:gd name="adj" fmla="val 1219"/>
            </a:avLst>
          </a:prstGeom>
          <a:solidFill>
            <a:srgbClr val="FFFFFF"/>
          </a:solidFill>
          <a:ln w="9525">
            <a:solidFill>
              <a:srgbClr val="D5DAE0"/>
            </a:solidFill>
            <a:prstDash val="solid"/>
          </a:ln>
        </p:spPr>
      </p:sp>
      <p:pic>
        <p:nvPicPr>
          <p:cNvPr id="6" name="Image 0" descr="Karışıklık matrisi: sağlam yüzde 100, iç bilezik 24, dış bilezik 45, bilye 88 doğru">    </p:cNvPr>
          <p:cNvPicPr>
            <a:picLocks noChangeAspect="1"/>
          </p:cNvPicPr>
          <p:nvPr/>
        </p:nvPicPr>
        <p:blipFill>
          <a:blip r:embed="rId1"/>
          <a:stretch>
            <a:fillRect/>
          </a:stretch>
        </p:blipFill>
        <p:spPr>
          <a:xfrm>
            <a:off x="749808" y="1783080"/>
            <a:ext cx="4846320" cy="4281201"/>
          </a:xfrm>
          <a:prstGeom prst="rect">
            <a:avLst/>
          </a:prstGeom>
        </p:spPr>
      </p:pic>
      <p:sp>
        <p:nvSpPr>
          <p:cNvPr id="7" name="Var mı kartı"/>
          <p:cNvSpPr/>
          <p:nvPr/>
        </p:nvSpPr>
        <p:spPr>
          <a:xfrm>
            <a:off x="6355080" y="1828800"/>
            <a:ext cx="5193792" cy="1920240"/>
          </a:xfrm>
          <a:prstGeom prst="roundRect">
            <a:avLst>
              <a:gd name="adj" fmla="val 3810"/>
            </a:avLst>
          </a:prstGeom>
          <a:solidFill>
            <a:schemeClr val="bg2"/>
          </a:solidFill>
          <a:ln w="12700">
            <a:solidFill>
              <a:schemeClr val="bg2"/>
            </a:solidFill>
            <a:prstDash val="solid"/>
          </a:ln>
        </p:spPr>
      </p:sp>
      <p:sp>
        <p:nvSpPr>
          <p:cNvPr id="8" name="Text 4"/>
          <p:cNvSpPr txBox="1"/>
          <p:nvPr/>
        </p:nvSpPr>
        <p:spPr>
          <a:xfrm>
            <a:off x="6675120" y="2011680"/>
            <a:ext cx="4572000" cy="731520"/>
          </a:xfrm>
          <a:prstGeom prst="rect">
            <a:avLst/>
          </a:prstGeom>
          <a:noFill/>
          <a:ln/>
        </p:spPr>
        <p:txBody>
          <a:bodyPr wrap="square" lIns="0" tIns="0" rIns="0" bIns="0" rtlCol="0" anchor="t"/>
          <a:lstStyle/>
          <a:p>
            <a:pPr indent="0" marL="0">
              <a:spcAft>
                <a:spcPts val="600"/>
              </a:spcAft>
              <a:buNone/>
            </a:pPr>
            <a:r>
              <a:rPr lang="en-US" sz="4000" b="1" dirty="0">
                <a:solidFill>
                  <a:schemeClr val="accent3"/>
                </a:solidFill>
                <a:latin typeface="Cambria" pitchFamily="34" charset="0"/>
                <a:ea typeface="Cambria" pitchFamily="34" charset="-122"/>
                <a:cs typeface="Cambria" pitchFamily="34" charset="-120"/>
              </a:rPr>
              <a:t>%100</a:t>
            </a:r>
            <a:endParaRPr lang="en-US" sz="4000" dirty="0"/>
          </a:p>
        </p:txBody>
      </p:sp>
      <p:sp>
        <p:nvSpPr>
          <p:cNvPr id="9" name="Text 5"/>
          <p:cNvSpPr txBox="1"/>
          <p:nvPr/>
        </p:nvSpPr>
        <p:spPr>
          <a:xfrm>
            <a:off x="6675120" y="2743200"/>
            <a:ext cx="4572000" cy="457200"/>
          </a:xfrm>
          <a:prstGeom prst="rect">
            <a:avLst/>
          </a:prstGeom>
          <a:noFill/>
          <a:ln/>
        </p:spPr>
        <p:txBody>
          <a:bodyPr wrap="square" lIns="0" tIns="0" rIns="0" bIns="0" rtlCol="0" anchor="t"/>
          <a:lstStyle/>
          <a:p>
            <a:pPr indent="0" marL="0">
              <a:spcAft>
                <a:spcPts val="600"/>
              </a:spcAft>
              <a:buNone/>
            </a:pPr>
            <a:endParaRPr lang="en-US" sz="1400" dirty="0"/>
          </a:p>
        </p:txBody>
      </p:sp>
      <p:sp>
        <p:nvSpPr>
          <p:cNvPr id="10" name="Text 6"/>
          <p:cNvSpPr txBox="1"/>
          <p:nvPr/>
        </p:nvSpPr>
        <p:spPr>
          <a:xfrm>
            <a:off x="6675120" y="2880360"/>
            <a:ext cx="4572000" cy="73152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"Arıza var mı?" </a:t>
            </a:r>
            <a:pPr indent="0" marL="0">
              <a:spcAft>
                <a:spcPts val="600"/>
              </a:spcAft>
              <a:buNone/>
            </a:pPr>
            <a:r>
              <a:rPr lang="en-US" sz="1700" dirty="0">
                <a:solidFill>
                  <a:schemeClr val="tx2"/>
                </a:solidFill>
              </a:rPr>
              <a:t>Hiçbir hasarlı rulman sağlam sanılmadı.</a:t>
            </a:r>
            <a:endParaRPr lang="en-US" sz="1700" dirty="0"/>
          </a:p>
        </p:txBody>
      </p:sp>
      <p:sp>
        <p:nvSpPr>
          <p:cNvPr id="11" name="Nerede kartı"/>
          <p:cNvSpPr/>
          <p:nvPr/>
        </p:nvSpPr>
        <p:spPr>
          <a:xfrm>
            <a:off x="6355080" y="3977640"/>
            <a:ext cx="5193792" cy="1920240"/>
          </a:xfrm>
          <a:prstGeom prst="roundRect">
            <a:avLst>
              <a:gd name="adj" fmla="val 3810"/>
            </a:avLst>
          </a:prstGeom>
          <a:solidFill>
            <a:schemeClr val="bg2"/>
          </a:solidFill>
          <a:ln w="12700">
            <a:solidFill>
              <a:schemeClr val="bg2"/>
            </a:solidFill>
            <a:prstDash val="solid"/>
          </a:ln>
        </p:spPr>
      </p:sp>
      <p:sp>
        <p:nvSpPr>
          <p:cNvPr id="12" name="Text 8"/>
          <p:cNvSpPr txBox="1"/>
          <p:nvPr/>
        </p:nvSpPr>
        <p:spPr>
          <a:xfrm>
            <a:off x="6675120" y="4160520"/>
            <a:ext cx="4572000" cy="731520"/>
          </a:xfrm>
          <a:prstGeom prst="rect">
            <a:avLst/>
          </a:prstGeom>
          <a:noFill/>
          <a:ln/>
        </p:spPr>
        <p:txBody>
          <a:bodyPr wrap="square" lIns="0" tIns="0" rIns="0" bIns="0" rtlCol="0" anchor="t"/>
          <a:lstStyle/>
          <a:p>
            <a:pPr indent="0" marL="0">
              <a:spcAft>
                <a:spcPts val="600"/>
              </a:spcAft>
              <a:buNone/>
            </a:pPr>
            <a:r>
              <a:rPr lang="en-US" sz="4000" b="1" dirty="0">
                <a:solidFill>
                  <a:schemeClr val="accent1"/>
                </a:solidFill>
                <a:latin typeface="Cambria" pitchFamily="34" charset="0"/>
                <a:ea typeface="Cambria" pitchFamily="34" charset="-122"/>
                <a:cs typeface="Cambria" pitchFamily="34" charset="-120"/>
              </a:rPr>
              <a:t>%24–45</a:t>
            </a:r>
            <a:endParaRPr lang="en-US" sz="4000" dirty="0"/>
          </a:p>
        </p:txBody>
      </p:sp>
      <p:sp>
        <p:nvSpPr>
          <p:cNvPr id="13" name="Text 9"/>
          <p:cNvSpPr txBox="1"/>
          <p:nvPr/>
        </p:nvSpPr>
        <p:spPr>
          <a:xfrm>
            <a:off x="6675120" y="4892040"/>
            <a:ext cx="4572000" cy="457200"/>
          </a:xfrm>
          <a:prstGeom prst="rect">
            <a:avLst/>
          </a:prstGeom>
          <a:noFill/>
          <a:ln/>
        </p:spPr>
        <p:txBody>
          <a:bodyPr wrap="square" lIns="0" tIns="0" rIns="0" bIns="0" rtlCol="0" anchor="t"/>
          <a:lstStyle/>
          <a:p>
            <a:pPr indent="0" marL="0">
              <a:spcAft>
                <a:spcPts val="600"/>
              </a:spcAft>
              <a:buNone/>
            </a:pPr>
            <a:endParaRPr lang="en-US" sz="1400" dirty="0"/>
          </a:p>
        </p:txBody>
      </p:sp>
      <p:sp>
        <p:nvSpPr>
          <p:cNvPr id="14" name="Text 10"/>
          <p:cNvSpPr txBox="1"/>
          <p:nvPr/>
        </p:nvSpPr>
        <p:spPr>
          <a:xfrm>
            <a:off x="6675120" y="5029200"/>
            <a:ext cx="4572000" cy="73152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"Arıza nerede?" </a:t>
            </a:r>
            <a:pPr indent="0" marL="0">
              <a:spcAft>
                <a:spcPts val="600"/>
              </a:spcAft>
              <a:buNone/>
            </a:pPr>
            <a:r>
              <a:rPr lang="en-US" sz="1700" dirty="0">
                <a:solidFill>
                  <a:schemeClr val="tx2"/>
                </a:solidFill>
              </a:rPr>
              <a:t>İç ve dış bilezik hataları çoğunlukla bilye sanıldı.</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KENDI DENEYIM · D5</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Devir değişince bant parmak izi kayıyor</a:t>
            </a:r>
            <a:endParaRPr lang="en-US" sz="3200" dirty="0"/>
          </a:p>
        </p:txBody>
      </p:sp>
      <p:graphicFrame>
        <p:nvGraphicFramePr>
          <p:cNvPr id="5" name="Chart 0" descr=""/>
          <p:cNvGraphicFramePr/>
          <p:nvPr/>
        </p:nvGraphicFramePr>
        <p:xfrm>
          <a:off x="640080" y="1691640"/>
          <a:ext cx="74066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412480" y="2011680"/>
            <a:ext cx="3154680" cy="4023360"/>
          </a:xfrm>
          <a:prstGeom prst="rect">
            <a:avLst/>
          </a:prstGeom>
          <a:noFill/>
          <a:ln/>
        </p:spPr>
        <p:txBody>
          <a:bodyPr wrap="square" lIns="0" tIns="0" rIns="0" bIns="0" rtlCol="0" anchor="t"/>
          <a:lstStyle/>
          <a:p>
            <a:pPr indent="0" marL="0">
              <a:spcAft>
                <a:spcPts val="1600"/>
              </a:spcAft>
              <a:buNone/>
            </a:pPr>
            <a:r>
              <a:rPr lang="en-US" sz="1700" dirty="0">
                <a:solidFill>
                  <a:schemeClr val="tx2"/>
                </a:solidFill>
              </a:rPr>
              <a:t>2 hp ile eğit, aynı rulmanları başka yükte test et.</a:t>
            </a:r>
            <a:endParaRPr lang="en-US" sz="1700" dirty="0"/>
          </a:p>
          <a:p>
            <a:pPr indent="0" marL="0">
              <a:spcAft>
                <a:spcPts val="1600"/>
              </a:spcAft>
              <a:buNone/>
            </a:pPr>
            <a:r>
              <a:rPr lang="en-US" sz="1700" dirty="0">
                <a:solidFill>
                  <a:schemeClr val="tx2"/>
                </a:solidFill>
              </a:rPr>
              <a:t>Devir 1748 rpm'den 1796'ya çıkınca doğruluk </a:t>
            </a:r>
            <a:pPr indent="0" marL="0">
              <a:spcAft>
                <a:spcPts val="1600"/>
              </a:spcAft>
              <a:buNone/>
            </a:pPr>
            <a:r>
              <a:rPr lang="en-US" sz="1700" b="1" dirty="0">
                <a:solidFill>
                  <a:schemeClr val="tx2"/>
                </a:solidFill>
              </a:rPr>
              <a:t>%85</a:t>
            </a:r>
            <a:pPr indent="0" marL="0">
              <a:spcAft>
                <a:spcPts val="1600"/>
              </a:spcAft>
              <a:buNone/>
            </a:pPr>
            <a:r>
              <a:rPr lang="en-US" sz="1700" dirty="0">
                <a:solidFill>
                  <a:schemeClr val="tx2"/>
                </a:solidFill>
              </a:rPr>
              <a:t>'e iniyor.</a:t>
            </a:r>
            <a:endParaRPr lang="en-US" sz="1700" dirty="0"/>
          </a:p>
          <a:p>
            <a:pPr indent="0" marL="0">
              <a:spcAft>
                <a:spcPts val="1600"/>
              </a:spcAft>
              <a:buNone/>
            </a:pPr>
            <a:r>
              <a:rPr lang="en-US" sz="1700" dirty="0">
                <a:solidFill>
                  <a:schemeClr val="tx2"/>
                </a:solidFill>
              </a:rPr>
              <a:t>Yalnızca %3'lük devir farkı. Sahada devir çok daha fazla değişir.</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KENDI HIPOTEZIM · D3</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Göreli bant enerjisi: hipotez tutmadı</a:t>
            </a:r>
            <a:endParaRPr lang="en-US" sz="3200" dirty="0"/>
          </a:p>
        </p:txBody>
      </p:sp>
      <p:sp>
        <p:nvSpPr>
          <p:cNvPr id="5" name="Kart Fikir"/>
          <p:cNvSpPr/>
          <p:nvPr/>
        </p:nvSpPr>
        <p:spPr>
          <a:xfrm>
            <a:off x="640080" y="1920240"/>
            <a:ext cx="3429000" cy="2743200"/>
          </a:xfrm>
          <a:prstGeom prst="roundRect">
            <a:avLst>
              <a:gd name="adj" fmla="val 2667"/>
            </a:avLst>
          </a:prstGeom>
          <a:solidFill>
            <a:schemeClr val="bg2"/>
          </a:solidFill>
          <a:ln w="12700">
            <a:solidFill>
              <a:schemeClr val="bg2"/>
            </a:solidFill>
            <a:prstDash val="solid"/>
          </a:ln>
        </p:spPr>
      </p:sp>
      <p:sp>
        <p:nvSpPr>
          <p:cNvPr id="6" name="Numara 1"/>
          <p:cNvSpPr/>
          <p:nvPr/>
        </p:nvSpPr>
        <p:spPr>
          <a:xfrm>
            <a:off x="960120" y="2194560"/>
            <a:ext cx="548640" cy="548640"/>
          </a:xfrm>
          <a:prstGeom prst="ellipse">
            <a:avLst/>
          </a:prstGeom>
          <a:solidFill>
            <a:schemeClr val="accent2"/>
          </a:solidFill>
          <a:ln w="12700">
            <a:solidFill>
              <a:schemeClr val="accent2"/>
            </a:solidFill>
            <a:prstDash val="solid"/>
          </a:ln>
        </p:spPr>
      </p:sp>
      <p:sp>
        <p:nvSpPr>
          <p:cNvPr id="7" name="Text 4"/>
          <p:cNvSpPr txBox="1"/>
          <p:nvPr/>
        </p:nvSpPr>
        <p:spPr>
          <a:xfrm>
            <a:off x="960120" y="219456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1</a:t>
            </a:r>
            <a:endParaRPr lang="en-US" sz="1800" dirty="0"/>
          </a:p>
        </p:txBody>
      </p:sp>
      <p:sp>
        <p:nvSpPr>
          <p:cNvPr id="8" name="Text 5"/>
          <p:cNvSpPr txBox="1"/>
          <p:nvPr/>
        </p:nvSpPr>
        <p:spPr>
          <a:xfrm>
            <a:off x="1691640" y="2267712"/>
            <a:ext cx="2103120" cy="4114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Fikir</a:t>
            </a:r>
            <a:endParaRPr lang="en-US" sz="2000" dirty="0"/>
          </a:p>
        </p:txBody>
      </p:sp>
      <p:sp>
        <p:nvSpPr>
          <p:cNvPr id="9" name="Text 6"/>
          <p:cNvSpPr txBox="1"/>
          <p:nvPr/>
        </p:nvSpPr>
        <p:spPr>
          <a:xfrm>
            <a:off x="960120" y="2971800"/>
            <a:ext cx="2834640" cy="155448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Bant genlikleri sensör kazancına bağlı. Her bandı toplam enerjiye bölersem özellikler kurulumdan bağımsız olur.</a:t>
            </a:r>
            <a:endParaRPr lang="en-US" sz="1600" dirty="0"/>
          </a:p>
        </p:txBody>
      </p:sp>
      <p:sp>
        <p:nvSpPr>
          <p:cNvPr id="10" name="Kart Sonuç"/>
          <p:cNvSpPr/>
          <p:nvPr/>
        </p:nvSpPr>
        <p:spPr>
          <a:xfrm>
            <a:off x="4343400" y="1920240"/>
            <a:ext cx="3429000" cy="2743200"/>
          </a:xfrm>
          <a:prstGeom prst="roundRect">
            <a:avLst>
              <a:gd name="adj" fmla="val 2667"/>
            </a:avLst>
          </a:prstGeom>
          <a:solidFill>
            <a:schemeClr val="bg2"/>
          </a:solidFill>
          <a:ln w="12700">
            <a:solidFill>
              <a:schemeClr val="bg2"/>
            </a:solidFill>
            <a:prstDash val="solid"/>
          </a:ln>
        </p:spPr>
      </p:sp>
      <p:sp>
        <p:nvSpPr>
          <p:cNvPr id="11" name="Numara 2"/>
          <p:cNvSpPr/>
          <p:nvPr/>
        </p:nvSpPr>
        <p:spPr>
          <a:xfrm>
            <a:off x="4663440" y="2194560"/>
            <a:ext cx="548640" cy="548640"/>
          </a:xfrm>
          <a:prstGeom prst="ellipse">
            <a:avLst/>
          </a:prstGeom>
          <a:solidFill>
            <a:schemeClr val="accent1"/>
          </a:solidFill>
          <a:ln w="12700">
            <a:solidFill>
              <a:schemeClr val="accent1"/>
            </a:solidFill>
            <a:prstDash val="solid"/>
          </a:ln>
        </p:spPr>
      </p:sp>
      <p:sp>
        <p:nvSpPr>
          <p:cNvPr id="12" name="Text 9"/>
          <p:cNvSpPr txBox="1"/>
          <p:nvPr/>
        </p:nvSpPr>
        <p:spPr>
          <a:xfrm>
            <a:off x="4663440" y="219456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2</a:t>
            </a:r>
            <a:endParaRPr lang="en-US" sz="1800" dirty="0"/>
          </a:p>
        </p:txBody>
      </p:sp>
      <p:sp>
        <p:nvSpPr>
          <p:cNvPr id="13" name="Text 10"/>
          <p:cNvSpPr txBox="1"/>
          <p:nvPr/>
        </p:nvSpPr>
        <p:spPr>
          <a:xfrm>
            <a:off x="5394960" y="2267712"/>
            <a:ext cx="2103120" cy="4114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Sonuç</a:t>
            </a:r>
            <a:endParaRPr lang="en-US" sz="2000" dirty="0"/>
          </a:p>
        </p:txBody>
      </p:sp>
      <p:sp>
        <p:nvSpPr>
          <p:cNvPr id="14" name="Text 11"/>
          <p:cNvSpPr txBox="1"/>
          <p:nvPr/>
        </p:nvSpPr>
        <p:spPr>
          <a:xfrm>
            <a:off x="4663440" y="2971800"/>
            <a:ext cx="2834640" cy="155448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Sızıntısız testte </a:t>
            </a:r>
            <a:pPr indent="0" marL="0">
              <a:spcAft>
                <a:spcPts val="600"/>
              </a:spcAft>
              <a:buNone/>
            </a:pPr>
            <a:r>
              <a:rPr lang="en-US" sz="1600" b="1" dirty="0">
                <a:solidFill>
                  <a:schemeClr val="tx2"/>
                </a:solidFill>
              </a:rPr>
              <a:t>%46</a:t>
            </a:r>
            <a:pPr indent="0" marL="0">
              <a:spcAft>
                <a:spcPts val="600"/>
              </a:spcAft>
              <a:buNone/>
            </a:pPr>
            <a:r>
              <a:rPr lang="en-US" sz="1600" dirty="0">
                <a:solidFill>
                  <a:schemeClr val="tx2"/>
                </a:solidFill>
              </a:rPr>
              <a:t>, mutlak bantlardan (%57) kötü. Yalnız 3 hp yük testinde en iyisi (</a:t>
            </a:r>
            <a:pPr indent="0" marL="0">
              <a:spcAft>
                <a:spcPts val="600"/>
              </a:spcAft>
              <a:buNone/>
            </a:pPr>
            <a:r>
              <a:rPr lang="en-US" sz="1600" b="1" dirty="0">
                <a:solidFill>
                  <a:schemeClr val="tx2"/>
                </a:solidFill>
              </a:rPr>
              <a:t>%96</a:t>
            </a:r>
            <a:pPr indent="0" marL="0">
              <a:spcAft>
                <a:spcPts val="600"/>
              </a:spcAft>
              <a:buNone/>
            </a:pPr>
            <a:r>
              <a:rPr lang="en-US" sz="1600" dirty="0">
                <a:solidFill>
                  <a:schemeClr val="tx2"/>
                </a:solidFill>
              </a:rPr>
              <a:t>).</a:t>
            </a:r>
            <a:endParaRPr lang="en-US" sz="1600" dirty="0"/>
          </a:p>
        </p:txBody>
      </p:sp>
      <p:sp>
        <p:nvSpPr>
          <p:cNvPr id="15" name="Kart Yorum"/>
          <p:cNvSpPr/>
          <p:nvPr/>
        </p:nvSpPr>
        <p:spPr>
          <a:xfrm>
            <a:off x="8046720" y="1920240"/>
            <a:ext cx="3429000" cy="2743200"/>
          </a:xfrm>
          <a:prstGeom prst="roundRect">
            <a:avLst>
              <a:gd name="adj" fmla="val 2667"/>
            </a:avLst>
          </a:prstGeom>
          <a:solidFill>
            <a:schemeClr val="bg2"/>
          </a:solidFill>
          <a:ln w="12700">
            <a:solidFill>
              <a:schemeClr val="bg2"/>
            </a:solidFill>
            <a:prstDash val="solid"/>
          </a:ln>
        </p:spPr>
      </p:sp>
      <p:sp>
        <p:nvSpPr>
          <p:cNvPr id="16" name="Numara 3"/>
          <p:cNvSpPr/>
          <p:nvPr/>
        </p:nvSpPr>
        <p:spPr>
          <a:xfrm>
            <a:off x="8366760" y="2194560"/>
            <a:ext cx="548640" cy="548640"/>
          </a:xfrm>
          <a:prstGeom prst="ellipse">
            <a:avLst/>
          </a:prstGeom>
          <a:solidFill>
            <a:schemeClr val="accent5"/>
          </a:solidFill>
          <a:ln w="12700">
            <a:solidFill>
              <a:schemeClr val="accent5"/>
            </a:solidFill>
            <a:prstDash val="solid"/>
          </a:ln>
        </p:spPr>
      </p:sp>
      <p:sp>
        <p:nvSpPr>
          <p:cNvPr id="17" name="Text 14"/>
          <p:cNvSpPr txBox="1"/>
          <p:nvPr/>
        </p:nvSpPr>
        <p:spPr>
          <a:xfrm>
            <a:off x="8366760" y="2194560"/>
            <a:ext cx="548640" cy="548640"/>
          </a:xfrm>
          <a:prstGeom prst="rect">
            <a:avLst/>
          </a:prstGeom>
          <a:noFill/>
          <a:ln/>
        </p:spPr>
        <p:txBody>
          <a:bodyPr wrap="square" lIns="0" tIns="0" rIns="0" bIns="0" rtlCol="0" anchor="ctr"/>
          <a:lstStyle/>
          <a:p>
            <a:pPr algn="ctr" indent="0" marL="0">
              <a:spcAft>
                <a:spcPts val="600"/>
              </a:spcAft>
              <a:buNone/>
            </a:pPr>
            <a:r>
              <a:rPr lang="en-US" sz="1800" b="1" dirty="0">
                <a:solidFill>
                  <a:schemeClr val="bg1"/>
                </a:solidFill>
              </a:rPr>
              <a:t>3</a:t>
            </a:r>
            <a:endParaRPr lang="en-US" sz="1800" dirty="0"/>
          </a:p>
        </p:txBody>
      </p:sp>
      <p:sp>
        <p:nvSpPr>
          <p:cNvPr id="18" name="Text 15"/>
          <p:cNvSpPr txBox="1"/>
          <p:nvPr/>
        </p:nvSpPr>
        <p:spPr>
          <a:xfrm>
            <a:off x="9098280" y="2267712"/>
            <a:ext cx="2103120" cy="4114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Yorum</a:t>
            </a:r>
            <a:endParaRPr lang="en-US" sz="2000" dirty="0"/>
          </a:p>
        </p:txBody>
      </p:sp>
      <p:sp>
        <p:nvSpPr>
          <p:cNvPr id="19" name="Text 16"/>
          <p:cNvSpPr txBox="1"/>
          <p:nvPr/>
        </p:nvSpPr>
        <p:spPr>
          <a:xfrm>
            <a:off x="8366760" y="2971800"/>
            <a:ext cx="2834640" cy="1554480"/>
          </a:xfrm>
          <a:prstGeom prst="rect">
            <a:avLst/>
          </a:prstGeom>
          <a:noFill/>
          <a:ln/>
        </p:spPr>
        <p:txBody>
          <a:bodyPr wrap="square" lIns="0" tIns="0" rIns="0" bIns="0" rtlCol="0" anchor="t"/>
          <a:lstStyle/>
          <a:p>
            <a:pPr indent="0" marL="0">
              <a:spcAft>
                <a:spcPts val="600"/>
              </a:spcAft>
              <a:buNone/>
            </a:pPr>
            <a:r>
              <a:rPr lang="en-US" sz="1600" dirty="0">
                <a:solidFill>
                  <a:schemeClr val="tx2"/>
                </a:solidFill>
              </a:rPr>
              <a:t>Mutlak enerji seviyesi de hata tipi hakkında bilgi taşıyordu; normalize ederken onu da attım.</a:t>
            </a:r>
            <a:endParaRPr lang="en-US" sz="1600" dirty="0"/>
          </a:p>
        </p:txBody>
      </p:sp>
      <p:sp>
        <p:nvSpPr>
          <p:cNvPr id="20" name="Text 17"/>
          <p:cNvSpPr txBox="1"/>
          <p:nvPr/>
        </p:nvSpPr>
        <p:spPr>
          <a:xfrm>
            <a:off x="640080" y="5074920"/>
            <a:ext cx="10881360" cy="548640"/>
          </a:xfrm>
          <a:prstGeom prst="rect">
            <a:avLst/>
          </a:prstGeom>
          <a:noFill/>
          <a:ln/>
        </p:spPr>
        <p:txBody>
          <a:bodyPr wrap="square" lIns="0" tIns="0" rIns="0" bIns="0" rtlCol="0" anchor="t"/>
          <a:lstStyle/>
          <a:p>
            <a:pPr indent="0" marL="0">
              <a:spcAft>
                <a:spcPts val="600"/>
              </a:spcAft>
              <a:buNone/>
            </a:pPr>
            <a:r>
              <a:rPr lang="en-US" sz="1800" dirty="0">
                <a:solidFill>
                  <a:schemeClr val="tx2"/>
                </a:solidFill>
              </a:rPr>
              <a:t>Negatif sonuç da bir sonuç: neyin işe yaramadığını ve </a:t>
            </a:r>
            <a:pPr indent="0" marL="0">
              <a:spcAft>
                <a:spcPts val="600"/>
              </a:spcAft>
              <a:buNone/>
            </a:pPr>
            <a:r>
              <a:rPr lang="en-US" sz="1800" b="1" dirty="0">
                <a:solidFill>
                  <a:schemeClr val="tx2"/>
                </a:solidFill>
              </a:rPr>
              <a:t>neden</a:t>
            </a:r>
            <a:pPr indent="0" marL="0">
              <a:spcAft>
                <a:spcPts val="600"/>
              </a:spcAft>
              <a:buNone/>
            </a:pPr>
            <a:r>
              <a:rPr lang="en-US" sz="1800" dirty="0">
                <a:solidFill>
                  <a:schemeClr val="tx2"/>
                </a:solidFill>
              </a:rPr>
              <a:t> yaramadığını gösteriyor.</a:t>
            </a:r>
            <a:endParaRPr lang="en-US" sz="18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ELEŞTIREL DEĞERLENDIRME</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Güçlü yöntem, iyimser değerlendirme</a:t>
            </a:r>
            <a:endParaRPr lang="en-US" sz="3200" dirty="0"/>
          </a:p>
        </p:txBody>
      </p:sp>
      <p:sp>
        <p:nvSpPr>
          <p:cNvPr id="5" name="Güçlü yanlar kartı"/>
          <p:cNvSpPr/>
          <p:nvPr/>
        </p:nvSpPr>
        <p:spPr>
          <a:xfrm>
            <a:off x="640080" y="1828800"/>
            <a:ext cx="5349240" cy="3566160"/>
          </a:xfrm>
          <a:prstGeom prst="roundRect">
            <a:avLst>
              <a:gd name="adj" fmla="val 2051"/>
            </a:avLst>
          </a:prstGeom>
          <a:solidFill>
            <a:schemeClr val="bg2"/>
          </a:solidFill>
          <a:ln w="12700">
            <a:solidFill>
              <a:schemeClr val="bg2"/>
            </a:solidFill>
            <a:prstDash val="solid"/>
          </a:ln>
        </p:spPr>
      </p:sp>
      <p:sp>
        <p:nvSpPr>
          <p:cNvPr id="6" name="Text 3"/>
          <p:cNvSpPr txBox="1"/>
          <p:nvPr/>
        </p:nvSpPr>
        <p:spPr>
          <a:xfrm>
            <a:off x="960120" y="2103120"/>
            <a:ext cx="4754880" cy="457200"/>
          </a:xfrm>
          <a:prstGeom prst="rect">
            <a:avLst/>
          </a:prstGeom>
          <a:noFill/>
          <a:ln/>
        </p:spPr>
        <p:txBody>
          <a:bodyPr wrap="square" lIns="0" tIns="0" rIns="0" bIns="0" rtlCol="0" anchor="t"/>
          <a:lstStyle/>
          <a:p>
            <a:pPr indent="0" marL="0">
              <a:spcAft>
                <a:spcPts val="600"/>
              </a:spcAft>
              <a:buNone/>
            </a:pPr>
            <a:r>
              <a:rPr lang="en-US" sz="2000" b="1" dirty="0">
                <a:solidFill>
                  <a:srgbClr val="157A55"/>
                </a:solidFill>
              </a:rPr>
              <a:t>Güçlü yanlar</a:t>
            </a:r>
            <a:endParaRPr lang="en-US" sz="2000" dirty="0"/>
          </a:p>
        </p:txBody>
      </p:sp>
      <p:sp>
        <p:nvSpPr>
          <p:cNvPr id="7" name="Text 4"/>
          <p:cNvSpPr txBox="1"/>
          <p:nvPr/>
        </p:nvSpPr>
        <p:spPr>
          <a:xfrm>
            <a:off x="960120" y="2697480"/>
            <a:ext cx="4754880" cy="25603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2"/>
                </a:solidFill>
              </a:rPr>
              <a:t>Ucuz: tek FFT, 20 sayı, uç cihaza uygun</a:t>
            </a:r>
            <a:endParaRPr lang="en-US" sz="1700" dirty="0"/>
          </a:p>
          <a:p>
            <a:pPr marL="342900" indent="-342900">
              <a:spcAft>
                <a:spcPts val="1200"/>
              </a:spcAft>
              <a:buSzPct val="100000"/>
              <a:buChar char="•"/>
            </a:pPr>
            <a:r>
              <a:rPr lang="en-US" sz="1700" dirty="0">
                <a:solidFill>
                  <a:schemeClr val="tx2"/>
                </a:solidFill>
              </a:rPr>
              <a:t>Açıklanabilir: her özellik bir frekans bandı</a:t>
            </a:r>
            <a:endParaRPr lang="en-US" sz="1700" dirty="0"/>
          </a:p>
          <a:p>
            <a:pPr marL="342900" indent="-342900">
              <a:spcAft>
                <a:spcPts val="1200"/>
              </a:spcAft>
              <a:buSzPct val="100000"/>
              <a:buChar char="•"/>
            </a:pPr>
            <a:r>
              <a:rPr lang="en-US" sz="1700" dirty="0">
                <a:solidFill>
                  <a:schemeClr val="tx2"/>
                </a:solidFill>
              </a:rPr>
              <a:t>Sistematik: 19 set, 3 indirgeme yöntemi</a:t>
            </a:r>
            <a:endParaRPr lang="en-US" sz="1700" dirty="0"/>
          </a:p>
          <a:p>
            <a:pPr marL="342900" indent="-342900">
              <a:spcAft>
                <a:spcPts val="1200"/>
              </a:spcAft>
              <a:buSzPct val="100000"/>
              <a:buChar char="•"/>
            </a:pPr>
            <a:r>
              <a:rPr lang="en-US" sz="1700" dirty="0">
                <a:solidFill>
                  <a:schemeClr val="tx2"/>
                </a:solidFill>
              </a:rPr>
              <a:t>Açık veri, tekrar üretilebilir</a:t>
            </a:r>
            <a:endParaRPr lang="en-US" sz="1700" dirty="0"/>
          </a:p>
        </p:txBody>
      </p:sp>
      <p:sp>
        <p:nvSpPr>
          <p:cNvPr id="8" name="Zayıf yanlar kartı"/>
          <p:cNvSpPr/>
          <p:nvPr/>
        </p:nvSpPr>
        <p:spPr>
          <a:xfrm>
            <a:off x="6199632" y="1828800"/>
            <a:ext cx="5349240" cy="3566160"/>
          </a:xfrm>
          <a:prstGeom prst="roundRect">
            <a:avLst>
              <a:gd name="adj" fmla="val 2051"/>
            </a:avLst>
          </a:prstGeom>
          <a:solidFill>
            <a:schemeClr val="bg2"/>
          </a:solidFill>
          <a:ln w="12700">
            <a:solidFill>
              <a:schemeClr val="bg2"/>
            </a:solidFill>
            <a:prstDash val="solid"/>
          </a:ln>
        </p:spPr>
      </p:sp>
      <p:sp>
        <p:nvSpPr>
          <p:cNvPr id="9" name="Text 6"/>
          <p:cNvSpPr txBox="1"/>
          <p:nvPr/>
        </p:nvSpPr>
        <p:spPr>
          <a:xfrm>
            <a:off x="6519672" y="2103120"/>
            <a:ext cx="4754880" cy="457200"/>
          </a:xfrm>
          <a:prstGeom prst="rect">
            <a:avLst/>
          </a:prstGeom>
          <a:noFill/>
          <a:ln/>
        </p:spPr>
        <p:txBody>
          <a:bodyPr wrap="square" lIns="0" tIns="0" rIns="0" bIns="0" rtlCol="0" anchor="t"/>
          <a:lstStyle/>
          <a:p>
            <a:pPr indent="0" marL="0">
              <a:spcAft>
                <a:spcPts val="600"/>
              </a:spcAft>
              <a:buNone/>
            </a:pPr>
            <a:r>
              <a:rPr lang="en-US" sz="2000" b="1" dirty="0">
                <a:solidFill>
                  <a:srgbClr val="B5461C"/>
                </a:solidFill>
              </a:rPr>
              <a:t>Zayıf yanlar</a:t>
            </a:r>
            <a:endParaRPr lang="en-US" sz="2000" dirty="0"/>
          </a:p>
        </p:txBody>
      </p:sp>
      <p:sp>
        <p:nvSpPr>
          <p:cNvPr id="10" name="Text 7"/>
          <p:cNvSpPr txBox="1"/>
          <p:nvPr/>
        </p:nvSpPr>
        <p:spPr>
          <a:xfrm>
            <a:off x="6519672" y="2697480"/>
            <a:ext cx="4754880" cy="25603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2"/>
                </a:solidFill>
              </a:rPr>
              <a:t>Veri sızıntısı: %99,9 → %64 (test edildi)</a:t>
            </a:r>
            <a:endParaRPr lang="en-US" sz="1700" dirty="0"/>
          </a:p>
          <a:p>
            <a:pPr marL="342900" indent="-342900">
              <a:spcAft>
                <a:spcPts val="1200"/>
              </a:spcAft>
              <a:buSzPct val="100000"/>
              <a:buChar char="•"/>
            </a:pPr>
            <a:r>
              <a:rPr lang="en-US" sz="1700" dirty="0">
                <a:solidFill>
                  <a:schemeClr val="tx2"/>
                </a:solidFill>
              </a:rPr>
              <a:t>Tek yük: %3 devir farkında %85 (test edildi)</a:t>
            </a:r>
            <a:endParaRPr lang="en-US" sz="1700" dirty="0"/>
          </a:p>
          <a:p>
            <a:pPr marL="342900" indent="-342900">
              <a:spcAft>
                <a:spcPts val="1200"/>
              </a:spcAft>
              <a:buSzPct val="100000"/>
              <a:buChar char="•"/>
            </a:pPr>
            <a:r>
              <a:rPr lang="en-US" sz="1700" dirty="0">
                <a:solidFill>
                  <a:schemeClr val="tx2"/>
                </a:solidFill>
              </a:rPr>
              <a:t>Zarf analizinde bant filtresi belirtilmemiş</a:t>
            </a:r>
            <a:endParaRPr lang="en-US" sz="1700" dirty="0"/>
          </a:p>
          <a:p>
            <a:pPr marL="342900" indent="-342900">
              <a:spcAft>
                <a:spcPts val="1200"/>
              </a:spcAft>
              <a:buSzPct val="100000"/>
              <a:buChar char="•"/>
            </a:pPr>
            <a:r>
              <a:rPr lang="en-US" sz="1700" dirty="0">
                <a:solidFill>
                  <a:schemeClr val="tx2"/>
                </a:solidFill>
              </a:rPr>
              <a:t>PCA öncesi ölçekleme belirtilmemiş</a:t>
            </a:r>
            <a:endParaRPr lang="en-US" sz="1700" dirty="0"/>
          </a:p>
          <a:p>
            <a:pPr marL="342900" indent="-342900">
              <a:spcAft>
                <a:spcPts val="1200"/>
              </a:spcAft>
              <a:buSzPct val="100000"/>
              <a:buChar char="•"/>
            </a:pPr>
            <a:r>
              <a:rPr lang="en-US" sz="1700" dirty="0">
                <a:solidFill>
                  <a:schemeClr val="tx2"/>
                </a:solidFill>
              </a:rPr>
              <a:t>Açıklanabilirlik yalnızca RF önemine (MDI) dayalı</a:t>
            </a:r>
            <a:endParaRPr lang="en-US" sz="17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640080"/>
            <a:ext cx="10881360" cy="365760"/>
          </a:xfrm>
          <a:prstGeom prst="rect">
            <a:avLst/>
          </a:prstGeom>
          <a:noFill/>
          <a:ln/>
        </p:spPr>
        <p:txBody>
          <a:bodyPr wrap="square" rtlCol="0"/>
          <a:lstStyle/>
          <a:p>
            <a:pPr indent="0" marL="0">
              <a:buNone/>
            </a:pPr>
            <a:r>
              <a:rPr lang="en-US" sz="1400" b="1" spc="300" kern="0" dirty="0">
                <a:solidFill>
                  <a:schemeClr val="accent1"/>
                </a:solidFill>
              </a:rPr>
              <a:t>SONUÇ</a:t>
            </a:r>
            <a:endParaRPr lang="en-US" sz="1400" dirty="0"/>
          </a:p>
        </p:txBody>
      </p:sp>
      <p:sp>
        <p:nvSpPr>
          <p:cNvPr id="3" name="Text 0"/>
          <p:cNvSpPr/>
          <p:nvPr>
            <p:ph idx="101" type="title" hasCustomPrompt="1"/>
          </p:nvPr>
        </p:nvSpPr>
        <p:spPr>
          <a:xfrm>
            <a:off x="640080" y="1828800"/>
            <a:ext cx="10881360" cy="2011680"/>
          </a:xfrm>
          <a:prstGeom prst="rect">
            <a:avLst/>
          </a:prstGeom>
          <a:noFill/>
          <a:ln/>
        </p:spPr>
        <p:txBody>
          <a:bodyPr wrap="square" rtlCol="0" anchor="t"/>
          <a:lstStyle/>
          <a:p>
            <a:pPr algn="l" indent="0" marL="0">
              <a:buNone/>
            </a:pPr>
            <a:r>
              <a:rPr lang="en-US" sz="5400" b="1" dirty="0">
                <a:solidFill>
                  <a:schemeClr val="bg1"/>
                </a:solidFill>
              </a:rPr>
              <a:t>Bir doğruluk rakamı, nasıl ölçüldüğü kadar değerlidir</a:t>
            </a:r>
            <a:endParaRPr lang="en-US" sz="5400" dirty="0"/>
          </a:p>
        </p:txBody>
      </p:sp>
      <p:sp>
        <p:nvSpPr>
          <p:cNvPr id="5" name="Sonuç kartı 1"/>
          <p:cNvSpPr/>
          <p:nvPr/>
        </p:nvSpPr>
        <p:spPr>
          <a:xfrm>
            <a:off x="640080" y="4206240"/>
            <a:ext cx="3429000" cy="2011680"/>
          </a:xfrm>
          <a:prstGeom prst="roundRect">
            <a:avLst>
              <a:gd name="adj" fmla="val 3636"/>
            </a:avLst>
          </a:prstGeom>
          <a:solidFill>
            <a:srgbClr val="2A4258"/>
          </a:solidFill>
          <a:ln w="12700">
            <a:solidFill>
              <a:srgbClr val="2A4258"/>
            </a:solidFill>
            <a:prstDash val="solid"/>
          </a:ln>
        </p:spPr>
      </p:sp>
      <p:sp>
        <p:nvSpPr>
          <p:cNvPr id="6" name="Text 3"/>
          <p:cNvSpPr txBox="1"/>
          <p:nvPr/>
        </p:nvSpPr>
        <p:spPr>
          <a:xfrm>
            <a:off x="960120" y="4434840"/>
            <a:ext cx="2834640" cy="411480"/>
          </a:xfrm>
          <a:prstGeom prst="rect">
            <a:avLst/>
          </a:prstGeom>
          <a:noFill/>
          <a:ln/>
        </p:spPr>
        <p:txBody>
          <a:bodyPr wrap="square" lIns="0" tIns="0" rIns="0" bIns="0" rtlCol="0" anchor="t"/>
          <a:lstStyle/>
          <a:p>
            <a:pPr indent="0" marL="0">
              <a:spcAft>
                <a:spcPts val="600"/>
              </a:spcAft>
              <a:buNone/>
            </a:pPr>
            <a:r>
              <a:rPr lang="en-US" sz="1900" b="1" dirty="0">
                <a:solidFill>
                  <a:schemeClr val="bg1"/>
                </a:solidFill>
              </a:rPr>
              <a:t>Yöntem için</a:t>
            </a:r>
            <a:endParaRPr lang="en-US" sz="1900" dirty="0"/>
          </a:p>
        </p:txBody>
      </p:sp>
      <p:sp>
        <p:nvSpPr>
          <p:cNvPr id="7" name="Text 4"/>
          <p:cNvSpPr txBox="1"/>
          <p:nvPr/>
        </p:nvSpPr>
        <p:spPr>
          <a:xfrm>
            <a:off x="960120" y="4937760"/>
            <a:ext cx="2834640" cy="1188720"/>
          </a:xfrm>
          <a:prstGeom prst="rect">
            <a:avLst/>
          </a:prstGeom>
          <a:noFill/>
          <a:ln/>
        </p:spPr>
        <p:txBody>
          <a:bodyPr wrap="square" lIns="0" tIns="0" rIns="0" bIns="0" rtlCol="0" anchor="t"/>
          <a:lstStyle/>
          <a:p>
            <a:pPr indent="0" marL="0">
              <a:spcAft>
                <a:spcPts val="600"/>
              </a:spcAft>
              <a:buNone/>
            </a:pPr>
            <a:r>
              <a:rPr lang="en-US" sz="1600" dirty="0">
                <a:solidFill>
                  <a:srgbClr val="D5DBE2"/>
                </a:solidFill>
              </a:rPr>
              <a:t>Frekans bantları ucuz ve açıklanabilir bir </a:t>
            </a:r>
            <a:pPr indent="0" marL="0">
              <a:spcAft>
                <a:spcPts val="600"/>
              </a:spcAft>
              <a:buNone/>
            </a:pPr>
            <a:r>
              <a:rPr lang="en-US" sz="1600" b="1" dirty="0">
                <a:solidFill>
                  <a:srgbClr val="D5DBE2"/>
                </a:solidFill>
              </a:rPr>
              <a:t>arıza alarmı</a:t>
            </a:r>
            <a:pPr indent="0" marL="0">
              <a:spcAft>
                <a:spcPts val="600"/>
              </a:spcAft>
              <a:buNone/>
            </a:pPr>
            <a:r>
              <a:rPr lang="en-US" sz="1600" dirty="0">
                <a:solidFill>
                  <a:srgbClr val="D5DBE2"/>
                </a:solidFill>
              </a:rPr>
              <a:t> olarak kullanılabilir.</a:t>
            </a:r>
            <a:endParaRPr lang="en-US" sz="1600" dirty="0"/>
          </a:p>
        </p:txBody>
      </p:sp>
      <p:sp>
        <p:nvSpPr>
          <p:cNvPr id="8" name="Sonuç kartı 2"/>
          <p:cNvSpPr/>
          <p:nvPr/>
        </p:nvSpPr>
        <p:spPr>
          <a:xfrm>
            <a:off x="4343400" y="4206240"/>
            <a:ext cx="3429000" cy="2011680"/>
          </a:xfrm>
          <a:prstGeom prst="roundRect">
            <a:avLst>
              <a:gd name="adj" fmla="val 3636"/>
            </a:avLst>
          </a:prstGeom>
          <a:solidFill>
            <a:srgbClr val="2A4258"/>
          </a:solidFill>
          <a:ln w="12700">
            <a:solidFill>
              <a:srgbClr val="2A4258"/>
            </a:solidFill>
            <a:prstDash val="solid"/>
          </a:ln>
        </p:spPr>
      </p:sp>
      <p:sp>
        <p:nvSpPr>
          <p:cNvPr id="9" name="Text 6"/>
          <p:cNvSpPr txBox="1"/>
          <p:nvPr/>
        </p:nvSpPr>
        <p:spPr>
          <a:xfrm>
            <a:off x="4663440" y="4434840"/>
            <a:ext cx="2834640" cy="411480"/>
          </a:xfrm>
          <a:prstGeom prst="rect">
            <a:avLst/>
          </a:prstGeom>
          <a:noFill/>
          <a:ln/>
        </p:spPr>
        <p:txBody>
          <a:bodyPr wrap="square" lIns="0" tIns="0" rIns="0" bIns="0" rtlCol="0" anchor="t"/>
          <a:lstStyle/>
          <a:p>
            <a:pPr indent="0" marL="0">
              <a:spcAft>
                <a:spcPts val="600"/>
              </a:spcAft>
              <a:buNone/>
            </a:pPr>
            <a:r>
              <a:rPr lang="en-US" sz="1900" b="1" dirty="0">
                <a:solidFill>
                  <a:schemeClr val="bg1"/>
                </a:solidFill>
              </a:rPr>
              <a:t>Değerlendirme için</a:t>
            </a:r>
            <a:endParaRPr lang="en-US" sz="1900" dirty="0"/>
          </a:p>
        </p:txBody>
      </p:sp>
      <p:sp>
        <p:nvSpPr>
          <p:cNvPr id="10" name="Text 7"/>
          <p:cNvSpPr txBox="1"/>
          <p:nvPr/>
        </p:nvSpPr>
        <p:spPr>
          <a:xfrm>
            <a:off x="4663440" y="4937760"/>
            <a:ext cx="2834640" cy="1188720"/>
          </a:xfrm>
          <a:prstGeom prst="rect">
            <a:avLst/>
          </a:prstGeom>
          <a:noFill/>
          <a:ln/>
        </p:spPr>
        <p:txBody>
          <a:bodyPr wrap="square" lIns="0" tIns="0" rIns="0" bIns="0" rtlCol="0" anchor="t"/>
          <a:lstStyle/>
          <a:p>
            <a:pPr indent="0" marL="0">
              <a:spcAft>
                <a:spcPts val="600"/>
              </a:spcAft>
              <a:buNone/>
            </a:pPr>
            <a:r>
              <a:rPr lang="en-US" sz="1600" dirty="0">
                <a:solidFill>
                  <a:srgbClr val="D5DBE2"/>
                </a:solidFill>
              </a:rPr>
              <a:t>Rulman verisinde test kümesi </a:t>
            </a:r>
            <a:pPr indent="0" marL="0">
              <a:spcAft>
                <a:spcPts val="600"/>
              </a:spcAft>
              <a:buNone/>
            </a:pPr>
            <a:r>
              <a:rPr lang="en-US" sz="1600" b="1" dirty="0">
                <a:solidFill>
                  <a:srgbClr val="D5DBE2"/>
                </a:solidFill>
              </a:rPr>
              <a:t>kayıt bazında</a:t>
            </a:r>
            <a:pPr indent="0" marL="0">
              <a:spcAft>
                <a:spcPts val="600"/>
              </a:spcAft>
              <a:buNone/>
            </a:pPr>
            <a:r>
              <a:rPr lang="en-US" sz="1600" dirty="0">
                <a:solidFill>
                  <a:srgbClr val="D5DBE2"/>
                </a:solidFill>
              </a:rPr>
              <a:t> ayrılmalı; aksi halde sonuç iyimser olur.</a:t>
            </a:r>
            <a:endParaRPr lang="en-US" sz="1600" dirty="0"/>
          </a:p>
        </p:txBody>
      </p:sp>
      <p:sp>
        <p:nvSpPr>
          <p:cNvPr id="11" name="Sonuç kartı 3"/>
          <p:cNvSpPr/>
          <p:nvPr/>
        </p:nvSpPr>
        <p:spPr>
          <a:xfrm>
            <a:off x="8046720" y="4206240"/>
            <a:ext cx="3429000" cy="2011680"/>
          </a:xfrm>
          <a:prstGeom prst="roundRect">
            <a:avLst>
              <a:gd name="adj" fmla="val 3636"/>
            </a:avLst>
          </a:prstGeom>
          <a:solidFill>
            <a:srgbClr val="2A4258"/>
          </a:solidFill>
          <a:ln w="12700">
            <a:solidFill>
              <a:srgbClr val="2A4258"/>
            </a:solidFill>
            <a:prstDash val="solid"/>
          </a:ln>
        </p:spPr>
      </p:sp>
      <p:sp>
        <p:nvSpPr>
          <p:cNvPr id="12" name="Text 9"/>
          <p:cNvSpPr txBox="1"/>
          <p:nvPr/>
        </p:nvSpPr>
        <p:spPr>
          <a:xfrm>
            <a:off x="8366760" y="4434840"/>
            <a:ext cx="2834640" cy="411480"/>
          </a:xfrm>
          <a:prstGeom prst="rect">
            <a:avLst/>
          </a:prstGeom>
          <a:noFill/>
          <a:ln/>
        </p:spPr>
        <p:txBody>
          <a:bodyPr wrap="square" lIns="0" tIns="0" rIns="0" bIns="0" rtlCol="0" anchor="t"/>
          <a:lstStyle/>
          <a:p>
            <a:pPr indent="0" marL="0">
              <a:spcAft>
                <a:spcPts val="600"/>
              </a:spcAft>
              <a:buNone/>
            </a:pPr>
            <a:r>
              <a:rPr lang="en-US" sz="1900" b="1" dirty="0">
                <a:solidFill>
                  <a:schemeClr val="bg1"/>
                </a:solidFill>
              </a:rPr>
              <a:t>Tez fikri</a:t>
            </a:r>
            <a:endParaRPr lang="en-US" sz="1900" dirty="0"/>
          </a:p>
        </p:txBody>
      </p:sp>
      <p:sp>
        <p:nvSpPr>
          <p:cNvPr id="13" name="Text 10"/>
          <p:cNvSpPr txBox="1"/>
          <p:nvPr/>
        </p:nvSpPr>
        <p:spPr>
          <a:xfrm>
            <a:off x="8366760" y="4937760"/>
            <a:ext cx="2834640" cy="1188720"/>
          </a:xfrm>
          <a:prstGeom prst="rect">
            <a:avLst/>
          </a:prstGeom>
          <a:noFill/>
          <a:ln/>
        </p:spPr>
        <p:txBody>
          <a:bodyPr wrap="square" lIns="0" tIns="0" rIns="0" bIns="0" rtlCol="0" anchor="t"/>
          <a:lstStyle/>
          <a:p>
            <a:pPr indent="0" marL="0">
              <a:spcAft>
                <a:spcPts val="600"/>
              </a:spcAft>
              <a:buNone/>
            </a:pPr>
            <a:r>
              <a:rPr lang="en-US" sz="1600" dirty="0">
                <a:solidFill>
                  <a:srgbClr val="D5DBE2"/>
                </a:solidFill>
              </a:rPr>
              <a:t>Devre göre ölçeklenen bantlar + zarf fiziği, uç cihazda (TinyML) çalışan hafif bir model.</a:t>
            </a:r>
            <a:endParaRPr lang="en-US" sz="1600" dirty="0"/>
          </a:p>
        </p:txBody>
      </p:sp>
      <p:sp>
        <p:nvSpPr>
          <p:cNvPr id="14" name="Text 0"/>
          <p:cNvSpPr/>
          <p:nvPr>
            <p:ph idx="102" type="body" hasCustomPrompt="1"/>
          </p:nvPr>
        </p:nvSpPr>
        <p:spPr>
          <a:xfrm>
            <a:off x="640080" y="3931920"/>
            <a:ext cx="9601200" cy="914400"/>
          </a:xfrm>
          <a:prstGeom prst="rect">
            <a:avLst/>
          </a:prstGeom>
          <a:noFill/>
          <a:ln/>
        </p:spPr>
        <p:txBody>
          <a:bodyPr wrap="square" rtlCol="0" anchor="t"/>
          <a:lstStyle/>
          <a:p>
            <a:pPr indent="0" marL="0">
              <a:buNone/>
            </a:pP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p>
            <a:pPr indent="0" marL="0">
              <a:buNone/>
            </a:pPr>
            <a:r>
              <a:rPr lang="en-US" sz="1200" b="1" spc="200" kern="0" dirty="0">
                <a:solidFill>
                  <a:schemeClr val="accent6"/>
                </a:solidFill>
              </a:rPr>
              <a:t>KAYNAKLAR</a:t>
            </a:r>
            <a:endParaRPr lang="en-US" sz="1200" dirty="0"/>
          </a:p>
        </p:txBody>
      </p:sp>
      <p:sp>
        <p:nvSpPr>
          <p:cNvPr id="3" name="Text 0"/>
          <p:cNvSpPr/>
          <p:nvPr>
            <p:ph idx="101" type="title" hasCustomPrompt="1"/>
          </p:nvPr>
        </p:nvSpPr>
        <p:spPr>
          <a:xfrm>
            <a:off x="640080" y="731520"/>
            <a:ext cx="10881360" cy="777240"/>
          </a:xfrm>
          <a:prstGeom prst="rect">
            <a:avLst/>
          </a:prstGeom>
          <a:noFill/>
          <a:ln/>
        </p:spPr>
        <p:txBody>
          <a:bodyPr wrap="square" rtlCol="0" anchor="t"/>
          <a:lstStyle/>
          <a:p>
            <a:pPr algn="l" indent="0" marL="0">
              <a:buNone/>
            </a:pPr>
            <a:r>
              <a:rPr lang="en-US" sz="3200" b="1" dirty="0">
                <a:solidFill>
                  <a:schemeClr val="tx1"/>
                </a:solidFill>
              </a:rPr>
              <a:t>Teşekkürler · Sorular?</a:t>
            </a:r>
            <a:endParaRPr lang="en-US" sz="3200" dirty="0"/>
          </a:p>
        </p:txBody>
      </p:sp>
      <p:sp>
        <p:nvSpPr>
          <p:cNvPr id="5" name="Text 2"/>
          <p:cNvSpPr txBox="1"/>
          <p:nvPr/>
        </p:nvSpPr>
        <p:spPr>
          <a:xfrm>
            <a:off x="640080" y="1828800"/>
            <a:ext cx="10881360" cy="38404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500" dirty="0">
                <a:solidFill>
                  <a:schemeClr val="tx2"/>
                </a:solidFill>
              </a:rPr>
              <a:t>Bienefeld C., Becker-Dombrowsky F.M., Shatri E., Kirchner E. Investigation of Feature Engineering Methods for Domain-Knowledge-Assisted Bearing Fault Diagnosis. Entropy 25(9):1278, 2023.</a:t>
            </a:r>
            <a:endParaRPr lang="en-US" sz="1500" dirty="0"/>
          </a:p>
          <a:p>
            <a:pPr marL="342900" indent="-342900">
              <a:spcAft>
                <a:spcPts val="1000"/>
              </a:spcAft>
              <a:buSzPct val="100000"/>
              <a:buFont typeface="+mj-lt"/>
              <a:buAutoNum type="arabicPeriod" startAt="1"/>
            </a:pPr>
            <a:r>
              <a:rPr lang="en-US" sz="1500" dirty="0">
                <a:solidFill>
                  <a:schemeClr val="tx2"/>
                </a:solidFill>
              </a:rPr>
              <a:t>Hendriks J., Dumond P., Knox D.A. Towards better benchmarking using the CWRU bearing fault dataset. Mech. Syst. Signal Process. 169:108732, 2022.</a:t>
            </a:r>
            <a:endParaRPr lang="en-US" sz="1500" dirty="0"/>
          </a:p>
          <a:p>
            <a:pPr marL="342900" indent="-342900">
              <a:spcAft>
                <a:spcPts val="1000"/>
              </a:spcAft>
              <a:buSzPct val="100000"/>
              <a:buFont typeface="+mj-lt"/>
              <a:buAutoNum type="arabicPeriod" startAt="1"/>
            </a:pPr>
            <a:r>
              <a:rPr lang="en-US" sz="1500" dirty="0">
                <a:solidFill>
                  <a:schemeClr val="tx2"/>
                </a:solidFill>
              </a:rPr>
              <a:t>Smith W.A., Randall R.B. Rolling element bearing diagnostics using the CWRU data: a benchmark study. MSSP 64–65:100–131, 2015.</a:t>
            </a:r>
            <a:endParaRPr lang="en-US" sz="1500" dirty="0"/>
          </a:p>
          <a:p>
            <a:pPr marL="342900" indent="-342900">
              <a:spcAft>
                <a:spcPts val="1000"/>
              </a:spcAft>
              <a:buSzPct val="100000"/>
              <a:buFont typeface="+mj-lt"/>
              <a:buAutoNum type="arabicPeriod" startAt="1"/>
            </a:pPr>
            <a:r>
              <a:rPr lang="en-US" sz="1500" dirty="0">
                <a:solidFill>
                  <a:schemeClr val="tx2"/>
                </a:solidFill>
              </a:rPr>
              <a:t>Randall R.B., Antoni J. Rolling element bearing diagnostics: a tutorial. MSSP 25:485–520, 2011.</a:t>
            </a:r>
            <a:endParaRPr lang="en-US" sz="1500" dirty="0"/>
          </a:p>
          <a:p>
            <a:pPr marL="342900" indent="-342900">
              <a:spcAft>
                <a:spcPts val="1000"/>
              </a:spcAft>
              <a:buSzPct val="100000"/>
              <a:buFont typeface="+mj-lt"/>
              <a:buAutoNum type="arabicPeriod" startAt="1"/>
            </a:pPr>
            <a:r>
              <a:rPr lang="en-US" sz="1500" dirty="0">
                <a:solidFill>
                  <a:schemeClr val="tx2"/>
                </a:solidFill>
              </a:rPr>
              <a:t>Case Western Reserve University Bearing Data Center (veri seti).</a:t>
            </a:r>
            <a:endParaRPr lang="en-US" sz="1500" dirty="0"/>
          </a:p>
        </p:txBody>
      </p:sp>
      <p:sp>
        <p:nvSpPr>
          <p:cNvPr id="6" name="Text 3"/>
          <p:cNvSpPr txBox="1"/>
          <p:nvPr/>
        </p:nvSpPr>
        <p:spPr>
          <a:xfrm>
            <a:off x="640080" y="5852160"/>
            <a:ext cx="10881360" cy="365760"/>
          </a:xfrm>
          <a:prstGeom prst="rect">
            <a:avLst/>
          </a:prstGeom>
          <a:noFill/>
          <a:ln/>
        </p:spPr>
        <p:txBody>
          <a:bodyPr wrap="square" lIns="0" tIns="0" rIns="0" bIns="0" rtlCol="0" anchor="t"/>
          <a:lstStyle/>
          <a:p>
            <a:pPr indent="0" marL="0">
              <a:spcAft>
                <a:spcPts val="600"/>
              </a:spcAft>
              <a:buNone/>
            </a:pPr>
            <a:r>
              <a:rPr lang="en-US" sz="1200" dirty="0">
                <a:solidFill>
                  <a:schemeClr val="accent5"/>
                </a:solidFill>
              </a:rPr>
              <a:t>Deney kodu (Python, scikit-learn) ve tüm sonuçlar istenirse paylaşılabilir.</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Rulman Vize">
  <a:themeElements>
    <a:clrScheme name="Rulman Vize">
      <a:dk1>
        <a:srgbClr val="17212B"/>
      </a:dk1>
      <a:lt1>
        <a:srgbClr val="FFFFFF"/>
      </a:lt1>
      <a:dk2>
        <a:srgbClr val="1F3346"/>
      </a:dk2>
      <a:lt2>
        <a:srgbClr val="EEF1F4"/>
      </a:lt2>
      <a:accent1>
        <a:srgbClr val="E8622C"/>
      </a:accent1>
      <a:accent2>
        <a:srgbClr val="2A78D6"/>
      </a:accent2>
      <a:accent3>
        <a:srgbClr val="1BAF7A"/>
      </a:accent3>
      <a:accent4>
        <a:srgbClr val="EDA100"/>
      </a:accent4>
      <a:accent5>
        <a:srgbClr val="6B7280"/>
      </a:accent5>
      <a:accent6>
        <a:srgbClr val="B5461C"/>
      </a:accent6>
      <a:hlink>
        <a:srgbClr val="2A78D6"/>
      </a:hlink>
      <a:folHlink>
        <a:srgbClr val="6B7280"/>
      </a:folHlink>
    </a:clrScheme>
    <a:fontScheme name="Rulman Viz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Rulman arıza teşhisinde %99,9 gerçek mi?</dc:title>
  <dc:subject>PptxGenJS Presentation</dc:subject>
  <dc:creator>Erdi Karaboğa</dc:creator>
  <cp:lastModifiedBy>Erdi Karaboğa</cp:lastModifiedBy>
  <cp:revision>1</cp:revision>
  <dcterms:created xsi:type="dcterms:W3CDTF">2026-10-03T23:04:05Z</dcterms:created>
  <dcterms:modified xsi:type="dcterms:W3CDTF">2026-10-03T23:04:05Z</dcterms:modified>
</cp:coreProperties>
</file>